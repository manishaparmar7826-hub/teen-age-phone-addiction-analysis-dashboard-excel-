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5.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6.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7.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6"/>
  </p:notesMasterIdLst>
  <p:sldIdLst>
    <p:sldId id="256" r:id="rId2"/>
    <p:sldId id="257" r:id="rId3"/>
    <p:sldId id="258" r:id="rId4"/>
    <p:sldId id="269" r:id="rId5"/>
    <p:sldId id="259" r:id="rId6"/>
    <p:sldId id="260" r:id="rId7"/>
    <p:sldId id="266" r:id="rId8"/>
    <p:sldId id="261" r:id="rId9"/>
    <p:sldId id="267" r:id="rId10"/>
    <p:sldId id="262" r:id="rId11"/>
    <p:sldId id="268" r:id="rId12"/>
    <p:sldId id="263" r:id="rId13"/>
    <p:sldId id="264" r:id="rId14"/>
    <p:sldId id="265"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59" autoAdjust="0"/>
    <p:restoredTop sz="94660"/>
  </p:normalViewPr>
  <p:slideViewPr>
    <p:cSldViewPr snapToGrid="0">
      <p:cViewPr varScale="1">
        <p:scale>
          <a:sx n="88" d="100"/>
          <a:sy n="88" d="100"/>
        </p:scale>
        <p:origin x="1013"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file:///C:\Users\tusha\Downloads\teen_phone_addiction_datase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tusha\Downloads\teen_phone_addiction_datase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tusha\Downloads\teen_phone_addiction_datase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tusha\Downloads\teen_phone_addiction_dataset.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tusha\Downloads\teen_phone_addiction_dataset.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tusha\Downloads\teen_phone_addiction_dataset.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[teen_phone_addiction_dataset.xlsx]Average Digital Activity Patter!PivotTable1</c:name>
    <c:fmtId val="22"/>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a:t>Average Digital Activity Patterns Across School Grades</a:t>
            </a:r>
            <a:endParaRPr lang="en-US"/>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pivotFmt>
      <c:pivotFmt>
        <c:idx val="1"/>
      </c:pivotFmt>
      <c:pivotFmt>
        <c:idx val="2"/>
      </c:pivotFmt>
      <c:pivotFmt>
        <c:idx val="3"/>
      </c:pivotFmt>
      <c:pivotFmt>
        <c:idx val="4"/>
      </c:pivotFmt>
      <c:pivotFmt>
        <c:idx val="5"/>
      </c:pivotFmt>
      <c:pivotFmt>
        <c:idx val="6"/>
      </c:pivotFmt>
      <c:pivotFmt>
        <c:idx val="7"/>
      </c:pivotFmt>
      <c:pivotFmt>
        <c:idx val="8"/>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standard"/>
        <c:varyColors val="0"/>
        <c:ser>
          <c:idx val="0"/>
          <c:order val="0"/>
          <c:tx>
            <c:strRef>
              <c:f>'Average Digital Activity Patter'!$B$1</c:f>
              <c:strCache>
                <c:ptCount val="1"/>
                <c:pt idx="0">
                  <c:v>Average of Time_on_Social_Media</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invertIfNegative val="0"/>
          <c:cat>
            <c:strRef>
              <c:f>'Average Digital Activity Patter'!$A$2:$A$7</c:f>
              <c:strCache>
                <c:ptCount val="6"/>
                <c:pt idx="0">
                  <c:v>10th</c:v>
                </c:pt>
                <c:pt idx="1">
                  <c:v>11th</c:v>
                </c:pt>
                <c:pt idx="2">
                  <c:v>12th</c:v>
                </c:pt>
                <c:pt idx="3">
                  <c:v>7th</c:v>
                </c:pt>
                <c:pt idx="4">
                  <c:v>8th</c:v>
                </c:pt>
                <c:pt idx="5">
                  <c:v>9th</c:v>
                </c:pt>
              </c:strCache>
            </c:strRef>
          </c:cat>
          <c:val>
            <c:numRef>
              <c:f>'Average Digital Activity Patter'!$B$2:$B$7</c:f>
              <c:numCache>
                <c:formatCode>General</c:formatCode>
                <c:ptCount val="6"/>
                <c:pt idx="0">
                  <c:v>2.5240246406570859</c:v>
                </c:pt>
                <c:pt idx="1">
                  <c:v>2.4878914405010439</c:v>
                </c:pt>
                <c:pt idx="2">
                  <c:v>2.463894139886575</c:v>
                </c:pt>
                <c:pt idx="3">
                  <c:v>2.5400402414486911</c:v>
                </c:pt>
                <c:pt idx="4">
                  <c:v>2.4699170124481333</c:v>
                </c:pt>
                <c:pt idx="5">
                  <c:v>2.5104562737642593</c:v>
                </c:pt>
              </c:numCache>
            </c:numRef>
          </c:val>
          <c:extLst>
            <c:ext xmlns:c16="http://schemas.microsoft.com/office/drawing/2014/chart" uri="{C3380CC4-5D6E-409C-BE32-E72D297353CC}">
              <c16:uniqueId val="{00000000-ACAB-4248-9457-DCD79C086832}"/>
            </c:ext>
          </c:extLst>
        </c:ser>
        <c:ser>
          <c:idx val="1"/>
          <c:order val="1"/>
          <c:tx>
            <c:strRef>
              <c:f>'Average Digital Activity Patter'!$C$1</c:f>
              <c:strCache>
                <c:ptCount val="1"/>
                <c:pt idx="0">
                  <c:v>Average of Apps_Used_Daily</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invertIfNegative val="0"/>
          <c:cat>
            <c:strRef>
              <c:f>'Average Digital Activity Patter'!$A$2:$A$7</c:f>
              <c:strCache>
                <c:ptCount val="6"/>
                <c:pt idx="0">
                  <c:v>10th</c:v>
                </c:pt>
                <c:pt idx="1">
                  <c:v>11th</c:v>
                </c:pt>
                <c:pt idx="2">
                  <c:v>12th</c:v>
                </c:pt>
                <c:pt idx="3">
                  <c:v>7th</c:v>
                </c:pt>
                <c:pt idx="4">
                  <c:v>8th</c:v>
                </c:pt>
                <c:pt idx="5">
                  <c:v>9th</c:v>
                </c:pt>
              </c:strCache>
            </c:strRef>
          </c:cat>
          <c:val>
            <c:numRef>
              <c:f>'Average Digital Activity Patter'!$C$2:$C$7</c:f>
              <c:numCache>
                <c:formatCode>General</c:formatCode>
                <c:ptCount val="6"/>
                <c:pt idx="0">
                  <c:v>12.809034907597535</c:v>
                </c:pt>
                <c:pt idx="1">
                  <c:v>12.835073068893529</c:v>
                </c:pt>
                <c:pt idx="2">
                  <c:v>12.557655954631381</c:v>
                </c:pt>
                <c:pt idx="3">
                  <c:v>12.603621730382294</c:v>
                </c:pt>
                <c:pt idx="4">
                  <c:v>12.450207468879668</c:v>
                </c:pt>
                <c:pt idx="5">
                  <c:v>12.422053231939163</c:v>
                </c:pt>
              </c:numCache>
            </c:numRef>
          </c:val>
          <c:extLst>
            <c:ext xmlns:c16="http://schemas.microsoft.com/office/drawing/2014/chart" uri="{C3380CC4-5D6E-409C-BE32-E72D297353CC}">
              <c16:uniqueId val="{00000001-ACAB-4248-9457-DCD79C086832}"/>
            </c:ext>
          </c:extLst>
        </c:ser>
        <c:ser>
          <c:idx val="2"/>
          <c:order val="2"/>
          <c:tx>
            <c:strRef>
              <c:f>'Average Digital Activity Patter'!$D$1</c:f>
              <c:strCache>
                <c:ptCount val="1"/>
                <c:pt idx="0">
                  <c:v>Average of Time_on_Education</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invertIfNegative val="0"/>
          <c:cat>
            <c:strRef>
              <c:f>'Average Digital Activity Patter'!$A$2:$A$7</c:f>
              <c:strCache>
                <c:ptCount val="6"/>
                <c:pt idx="0">
                  <c:v>10th</c:v>
                </c:pt>
                <c:pt idx="1">
                  <c:v>11th</c:v>
                </c:pt>
                <c:pt idx="2">
                  <c:v>12th</c:v>
                </c:pt>
                <c:pt idx="3">
                  <c:v>7th</c:v>
                </c:pt>
                <c:pt idx="4">
                  <c:v>8th</c:v>
                </c:pt>
                <c:pt idx="5">
                  <c:v>9th</c:v>
                </c:pt>
              </c:strCache>
            </c:strRef>
          </c:cat>
          <c:val>
            <c:numRef>
              <c:f>'Average Digital Activity Patter'!$D$2:$D$7</c:f>
              <c:numCache>
                <c:formatCode>General</c:formatCode>
                <c:ptCount val="6"/>
                <c:pt idx="0">
                  <c:v>1.0285420944558523</c:v>
                </c:pt>
                <c:pt idx="1">
                  <c:v>0.99164926931106601</c:v>
                </c:pt>
                <c:pt idx="2">
                  <c:v>1.0240075614366748</c:v>
                </c:pt>
                <c:pt idx="3">
                  <c:v>1.0213279678068408</c:v>
                </c:pt>
                <c:pt idx="4">
                  <c:v>0.97531120331950227</c:v>
                </c:pt>
                <c:pt idx="5">
                  <c:v>1.0526615969581745</c:v>
                </c:pt>
              </c:numCache>
            </c:numRef>
          </c:val>
          <c:extLst>
            <c:ext xmlns:c16="http://schemas.microsoft.com/office/drawing/2014/chart" uri="{C3380CC4-5D6E-409C-BE32-E72D297353CC}">
              <c16:uniqueId val="{00000002-ACAB-4248-9457-DCD79C086832}"/>
            </c:ext>
          </c:extLst>
        </c:ser>
        <c:ser>
          <c:idx val="3"/>
          <c:order val="3"/>
          <c:tx>
            <c:strRef>
              <c:f>'Average Digital Activity Patter'!$E$1</c:f>
              <c:strCache>
                <c:ptCount val="1"/>
                <c:pt idx="0">
                  <c:v>Average of Time_on_Gaming</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invertIfNegative val="0"/>
          <c:cat>
            <c:strRef>
              <c:f>'Average Digital Activity Patter'!$A$2:$A$7</c:f>
              <c:strCache>
                <c:ptCount val="6"/>
                <c:pt idx="0">
                  <c:v>10th</c:v>
                </c:pt>
                <c:pt idx="1">
                  <c:v>11th</c:v>
                </c:pt>
                <c:pt idx="2">
                  <c:v>12th</c:v>
                </c:pt>
                <c:pt idx="3">
                  <c:v>7th</c:v>
                </c:pt>
                <c:pt idx="4">
                  <c:v>8th</c:v>
                </c:pt>
                <c:pt idx="5">
                  <c:v>9th</c:v>
                </c:pt>
              </c:strCache>
            </c:strRef>
          </c:cat>
          <c:val>
            <c:numRef>
              <c:f>'Average Digital Activity Patter'!$E$2:$E$7</c:f>
              <c:numCache>
                <c:formatCode>General</c:formatCode>
                <c:ptCount val="6"/>
                <c:pt idx="0">
                  <c:v>1.4531827515400417</c:v>
                </c:pt>
                <c:pt idx="1">
                  <c:v>1.5123173277661806</c:v>
                </c:pt>
                <c:pt idx="2">
                  <c:v>1.5202268431001897</c:v>
                </c:pt>
                <c:pt idx="3">
                  <c:v>1.5541247484909464</c:v>
                </c:pt>
                <c:pt idx="4">
                  <c:v>1.5385892116182582</c:v>
                </c:pt>
                <c:pt idx="5">
                  <c:v>1.5693916349809891</c:v>
                </c:pt>
              </c:numCache>
            </c:numRef>
          </c:val>
          <c:extLst>
            <c:ext xmlns:c16="http://schemas.microsoft.com/office/drawing/2014/chart" uri="{C3380CC4-5D6E-409C-BE32-E72D297353CC}">
              <c16:uniqueId val="{00000003-ACAB-4248-9457-DCD79C086832}"/>
            </c:ext>
          </c:extLst>
        </c:ser>
        <c:dLbls>
          <c:showLegendKey val="0"/>
          <c:showVal val="0"/>
          <c:showCatName val="0"/>
          <c:showSerName val="0"/>
          <c:showPercent val="0"/>
          <c:showBubbleSize val="0"/>
        </c:dLbls>
        <c:gapWidth val="150"/>
        <c:shape val="box"/>
        <c:axId val="1988978032"/>
        <c:axId val="1988978512"/>
        <c:axId val="2098086640"/>
      </c:bar3DChart>
      <c:catAx>
        <c:axId val="1988978032"/>
        <c:scaling>
          <c:orientation val="minMax"/>
        </c:scaling>
        <c:delete val="0"/>
        <c:axPos val="b"/>
        <c:title>
          <c:tx>
            <c:rich>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IN"/>
                  <a:t>School_Grade</a:t>
                </a:r>
              </a:p>
            </c:rich>
          </c:tx>
          <c:overlay val="0"/>
          <c:spPr>
            <a:noFill/>
            <a:ln>
              <a:noFill/>
            </a:ln>
            <a:effectLst/>
          </c:spPr>
          <c:txPr>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988978512"/>
        <c:crosses val="autoZero"/>
        <c:auto val="1"/>
        <c:lblAlgn val="ctr"/>
        <c:lblOffset val="100"/>
        <c:noMultiLvlLbl val="0"/>
      </c:catAx>
      <c:valAx>
        <c:axId val="1988978512"/>
        <c:scaling>
          <c:orientation val="minMax"/>
        </c:scaling>
        <c:delete val="0"/>
        <c:axPos val="l"/>
        <c:majorGridlines>
          <c:spPr>
            <a:ln w="9525" cap="flat" cmpd="sng" algn="ctr">
              <a:solidFill>
                <a:schemeClr val="dk1">
                  <a:lumMod val="50000"/>
                  <a:lumOff val="50000"/>
                </a:schemeClr>
              </a:solidFill>
              <a:round/>
            </a:ln>
            <a:effectLst/>
          </c:spPr>
        </c:majorGridlines>
        <c:title>
          <c:tx>
            <c:rich>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IN"/>
                  <a:t>Hours</a:t>
                </a:r>
              </a:p>
            </c:rich>
          </c:tx>
          <c:layout>
            <c:manualLayout>
              <c:xMode val="edge"/>
              <c:yMode val="edge"/>
              <c:x val="2.393791388001186E-2"/>
              <c:y val="0.533191414747478"/>
            </c:manualLayout>
          </c:layout>
          <c:overlay val="0"/>
          <c:spPr>
            <a:noFill/>
            <a:ln>
              <a:noFill/>
            </a:ln>
            <a:effectLst/>
          </c:spPr>
          <c:txPr>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988978032"/>
        <c:crosses val="autoZero"/>
        <c:crossBetween val="between"/>
      </c:valAx>
      <c:serAx>
        <c:axId val="2098086640"/>
        <c:scaling>
          <c:orientation val="minMax"/>
        </c:scaling>
        <c:delete val="0"/>
        <c:axPos val="b"/>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988978512"/>
        <c:crosses val="autoZero"/>
      </c:ser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[teen_phone_addiction_dataset.xlsx]Sheet1!PivotTable1</c:name>
    <c:fmtId val="16"/>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a:t>Age-Wise Analysis of Daily Screen Usage and Pre-Bed Screen Time</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IN"/>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Sheet1!$B$1</c:f>
              <c:strCache>
                <c:ptCount val="1"/>
                <c:pt idx="0">
                  <c:v>Average of Daily_Usage_Hours</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Sheet1!$A$2:$A$9</c:f>
              <c:strCache>
                <c:ptCount val="7"/>
                <c:pt idx="0">
                  <c:v>13</c:v>
                </c:pt>
                <c:pt idx="1">
                  <c:v>14</c:v>
                </c:pt>
                <c:pt idx="2">
                  <c:v>15</c:v>
                </c:pt>
                <c:pt idx="3">
                  <c:v>16</c:v>
                </c:pt>
                <c:pt idx="4">
                  <c:v>17</c:v>
                </c:pt>
                <c:pt idx="5">
                  <c:v>18</c:v>
                </c:pt>
                <c:pt idx="6">
                  <c:v>19</c:v>
                </c:pt>
              </c:strCache>
            </c:strRef>
          </c:cat>
          <c:val>
            <c:numRef>
              <c:f>Sheet1!$B$2:$B$9</c:f>
              <c:numCache>
                <c:formatCode>General</c:formatCode>
                <c:ptCount val="7"/>
                <c:pt idx="0">
                  <c:v>4.917551963048501</c:v>
                </c:pt>
                <c:pt idx="1">
                  <c:v>4.9042154566744722</c:v>
                </c:pt>
                <c:pt idx="2">
                  <c:v>4.9870069605568439</c:v>
                </c:pt>
                <c:pt idx="3">
                  <c:v>5.0599571734475353</c:v>
                </c:pt>
                <c:pt idx="4">
                  <c:v>5.0339805825242694</c:v>
                </c:pt>
                <c:pt idx="5">
                  <c:v>5.1026894865525652</c:v>
                </c:pt>
                <c:pt idx="6">
                  <c:v>5.1429928741092672</c:v>
                </c:pt>
              </c:numCache>
            </c:numRef>
          </c:val>
          <c:extLst>
            <c:ext xmlns:c16="http://schemas.microsoft.com/office/drawing/2014/chart" uri="{C3380CC4-5D6E-409C-BE32-E72D297353CC}">
              <c16:uniqueId val="{00000000-5AFC-47AC-92DB-D3C412559C02}"/>
            </c:ext>
          </c:extLst>
        </c:ser>
        <c:dLbls>
          <c:showLegendKey val="0"/>
          <c:showVal val="0"/>
          <c:showCatName val="0"/>
          <c:showSerName val="0"/>
          <c:showPercent val="0"/>
          <c:showBubbleSize val="0"/>
        </c:dLbls>
        <c:gapWidth val="219"/>
        <c:axId val="1853604800"/>
        <c:axId val="1853603840"/>
      </c:barChart>
      <c:lineChart>
        <c:grouping val="standard"/>
        <c:varyColors val="0"/>
        <c:ser>
          <c:idx val="1"/>
          <c:order val="1"/>
          <c:tx>
            <c:strRef>
              <c:f>Sheet1!$C$1</c:f>
              <c:strCache>
                <c:ptCount val="1"/>
                <c:pt idx="0">
                  <c:v>Average of Screen_Time_Before_Bed</c:v>
                </c:pt>
              </c:strCache>
            </c:strRef>
          </c:tx>
          <c:spPr>
            <a:ln w="34925" cap="rnd">
              <a:solidFill>
                <a:schemeClr val="accent2"/>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cat>
            <c:strRef>
              <c:f>Sheet1!$A$2:$A$9</c:f>
              <c:strCache>
                <c:ptCount val="7"/>
                <c:pt idx="0">
                  <c:v>13</c:v>
                </c:pt>
                <c:pt idx="1">
                  <c:v>14</c:v>
                </c:pt>
                <c:pt idx="2">
                  <c:v>15</c:v>
                </c:pt>
                <c:pt idx="3">
                  <c:v>16</c:v>
                </c:pt>
                <c:pt idx="4">
                  <c:v>17</c:v>
                </c:pt>
                <c:pt idx="5">
                  <c:v>18</c:v>
                </c:pt>
                <c:pt idx="6">
                  <c:v>19</c:v>
                </c:pt>
              </c:strCache>
            </c:strRef>
          </c:cat>
          <c:val>
            <c:numRef>
              <c:f>Sheet1!$C$2:$C$9</c:f>
              <c:numCache>
                <c:formatCode>General</c:formatCode>
                <c:ptCount val="7"/>
                <c:pt idx="0">
                  <c:v>1.0205542725173216</c:v>
                </c:pt>
                <c:pt idx="1">
                  <c:v>0.99250585480093645</c:v>
                </c:pt>
                <c:pt idx="2">
                  <c:v>0.9895591647331794</c:v>
                </c:pt>
                <c:pt idx="3">
                  <c:v>1.0182012847965745</c:v>
                </c:pt>
                <c:pt idx="4">
                  <c:v>1.0024271844660206</c:v>
                </c:pt>
                <c:pt idx="5">
                  <c:v>0.98312958435207853</c:v>
                </c:pt>
                <c:pt idx="6">
                  <c:v>1.0389548693586705</c:v>
                </c:pt>
              </c:numCache>
            </c:numRef>
          </c:val>
          <c:smooth val="0"/>
          <c:extLst>
            <c:ext xmlns:c16="http://schemas.microsoft.com/office/drawing/2014/chart" uri="{C3380CC4-5D6E-409C-BE32-E72D297353CC}">
              <c16:uniqueId val="{00000001-5AFC-47AC-92DB-D3C412559C02}"/>
            </c:ext>
          </c:extLst>
        </c:ser>
        <c:dLbls>
          <c:showLegendKey val="0"/>
          <c:showVal val="0"/>
          <c:showCatName val="0"/>
          <c:showSerName val="0"/>
          <c:showPercent val="0"/>
          <c:showBubbleSize val="0"/>
        </c:dLbls>
        <c:marker val="1"/>
        <c:smooth val="0"/>
        <c:axId val="1853612000"/>
        <c:axId val="1853611520"/>
      </c:lineChart>
      <c:catAx>
        <c:axId val="1853604800"/>
        <c:scaling>
          <c:orientation val="minMax"/>
        </c:scaling>
        <c:delete val="0"/>
        <c:axPos val="b"/>
        <c:title>
          <c:tx>
            <c:rich>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IN"/>
                  <a:t>Age</a:t>
                </a:r>
              </a:p>
            </c:rich>
          </c:tx>
          <c:overlay val="0"/>
          <c:spPr>
            <a:noFill/>
            <a:ln>
              <a:noFill/>
            </a:ln>
            <a:effectLst/>
          </c:spPr>
          <c:txPr>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853603840"/>
        <c:crosses val="autoZero"/>
        <c:auto val="1"/>
        <c:lblAlgn val="ctr"/>
        <c:lblOffset val="100"/>
        <c:noMultiLvlLbl val="0"/>
      </c:catAx>
      <c:valAx>
        <c:axId val="1853603840"/>
        <c:scaling>
          <c:orientation val="minMax"/>
        </c:scaling>
        <c:delete val="0"/>
        <c:axPos val="l"/>
        <c:majorGridlines>
          <c:spPr>
            <a:ln w="9525" cap="flat" cmpd="sng" algn="ctr">
              <a:solidFill>
                <a:schemeClr val="lt1">
                  <a:lumMod val="95000"/>
                  <a:alpha val="10000"/>
                </a:schemeClr>
              </a:solidFill>
              <a:round/>
            </a:ln>
            <a:effectLst/>
          </c:spPr>
        </c:majorGridlines>
        <c:title>
          <c:tx>
            <c:rich>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IN"/>
                  <a:t>Daily_Usage_Hours</a:t>
                </a:r>
              </a:p>
            </c:rich>
          </c:tx>
          <c:overlay val="0"/>
          <c:spPr>
            <a:noFill/>
            <a:ln>
              <a:noFill/>
            </a:ln>
            <a:effectLst/>
          </c:spPr>
          <c:txPr>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853604800"/>
        <c:crosses val="autoZero"/>
        <c:crossBetween val="between"/>
      </c:valAx>
      <c:valAx>
        <c:axId val="1853611520"/>
        <c:scaling>
          <c:orientation val="minMax"/>
        </c:scaling>
        <c:delete val="0"/>
        <c:axPos val="r"/>
        <c:title>
          <c:tx>
            <c:rich>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IN"/>
                  <a:t>Screen_Time_Before_Bed</a:t>
                </a:r>
              </a:p>
            </c:rich>
          </c:tx>
          <c:layout>
            <c:manualLayout>
              <c:xMode val="edge"/>
              <c:yMode val="edge"/>
              <c:x val="0.6423233280050521"/>
              <c:y val="0.27350612923956585"/>
            </c:manualLayout>
          </c:layout>
          <c:overlay val="0"/>
          <c:spPr>
            <a:noFill/>
            <a:ln>
              <a:noFill/>
            </a:ln>
            <a:effectLst/>
          </c:spPr>
          <c:txPr>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853612000"/>
        <c:crosses val="max"/>
        <c:crossBetween val="between"/>
      </c:valAx>
      <c:catAx>
        <c:axId val="1853612000"/>
        <c:scaling>
          <c:orientation val="minMax"/>
        </c:scaling>
        <c:delete val="1"/>
        <c:axPos val="b"/>
        <c:numFmt formatCode="General" sourceLinked="1"/>
        <c:majorTickMark val="none"/>
        <c:minorTickMark val="none"/>
        <c:tickLblPos val="nextTo"/>
        <c:crossAx val="1853611520"/>
        <c:crosses val="autoZero"/>
        <c:auto val="1"/>
        <c:lblAlgn val="ctr"/>
        <c:lblOffset val="100"/>
        <c:noMultiLvlLbl val="0"/>
      </c:cat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[teen_phone_addiction_dataset.xlsx]Sheet5!PivotTable2</c:name>
    <c:fmtId val="13"/>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Gender</a:t>
            </a:r>
            <a:r>
              <a:rPr lang="en-US" baseline="0"/>
              <a:t> wise Family_Communication</a:t>
            </a:r>
            <a:endParaRPr lang="en-US"/>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marker>
        <c:dLbl>
          <c:idx val="0"/>
          <c:spPr>
            <a:solidFill>
              <a:sysClr val="window" lastClr="FFFFFF"/>
            </a:solidFill>
            <a:ln>
              <a:no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1"/>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layout>
            <c:manualLayout>
              <c:x val="9.9999999999999895E-2"/>
              <c:y val="-0.12962962962962962"/>
            </c:manualLayout>
          </c:layout>
          <c:spPr>
            <a:solidFill>
              <a:sysClr val="window" lastClr="FFFFFF"/>
            </a:solidFill>
            <a:ln>
              <a:no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1"/>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layout>
            <c:manualLayout>
              <c:x val="-0.14444444444444443"/>
              <c:y val="-7.4074074074074153E-2"/>
            </c:manualLayout>
          </c:layout>
          <c:spPr>
            <a:solidFill>
              <a:sysClr val="window" lastClr="FFFFFF"/>
            </a:solidFill>
            <a:ln>
              <a:no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1"/>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layout>
            <c:manualLayout>
              <c:x val="1.1111111111111059E-2"/>
              <c:y val="7.407407407407407E-2"/>
            </c:manualLayout>
          </c:layout>
          <c:spPr>
            <a:solidFill>
              <a:sysClr val="window" lastClr="FFFFFF"/>
            </a:solidFill>
            <a:ln>
              <a:no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1"/>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5"/>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solidFill>
              <a:sysClr val="window" lastClr="FFFFFF"/>
            </a:solidFill>
            <a:ln>
              <a:no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1"/>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6"/>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layout>
            <c:manualLayout>
              <c:x val="9.9999999999999895E-2"/>
              <c:y val="-0.12962962962962962"/>
            </c:manualLayout>
          </c:layout>
          <c:spPr>
            <a:solidFill>
              <a:sysClr val="window" lastClr="FFFFFF"/>
            </a:solidFill>
            <a:ln>
              <a:no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1"/>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7"/>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layout>
            <c:manualLayout>
              <c:x val="1.1111111111111059E-2"/>
              <c:y val="7.407407407407407E-2"/>
            </c:manualLayout>
          </c:layout>
          <c:spPr>
            <a:solidFill>
              <a:sysClr val="window" lastClr="FFFFFF"/>
            </a:solidFill>
            <a:ln>
              <a:no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1"/>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8"/>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layout>
            <c:manualLayout>
              <c:x val="-0.14444444444444443"/>
              <c:y val="-7.4074074074074153E-2"/>
            </c:manualLayout>
          </c:layout>
          <c:spPr>
            <a:solidFill>
              <a:sysClr val="window" lastClr="FFFFFF"/>
            </a:solidFill>
            <a:ln>
              <a:no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1"/>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9"/>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solidFill>
              <a:sysClr val="window" lastClr="FFFFFF"/>
            </a:solidFill>
            <a:ln>
              <a:no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1"/>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layout>
            <c:manualLayout>
              <c:x val="9.9999999999999895E-2"/>
              <c:y val="-0.12962962962962962"/>
            </c:manualLayout>
          </c:layout>
          <c:spPr>
            <a:solidFill>
              <a:sysClr val="window" lastClr="FFFFFF"/>
            </a:solidFill>
            <a:ln>
              <a:no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1"/>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1"/>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layout>
            <c:manualLayout>
              <c:x val="1.1111111111111059E-2"/>
              <c:y val="7.407407407407407E-2"/>
            </c:manualLayout>
          </c:layout>
          <c:spPr>
            <a:solidFill>
              <a:sysClr val="window" lastClr="FFFFFF"/>
            </a:solidFill>
            <a:ln>
              <a:no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1"/>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2"/>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layout>
            <c:manualLayout>
              <c:x val="-0.14444444444444443"/>
              <c:y val="-7.4074074074074153E-2"/>
            </c:manualLayout>
          </c:layout>
          <c:spPr>
            <a:solidFill>
              <a:sysClr val="window" lastClr="FFFFFF"/>
            </a:solidFill>
            <a:ln>
              <a:no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1"/>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3"/>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solidFill>
              <a:sysClr val="window" lastClr="FFFFFF"/>
            </a:solidFill>
            <a:ln>
              <a:no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1"/>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4"/>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layout>
            <c:manualLayout>
              <c:x val="9.9999999999999895E-2"/>
              <c:y val="-0.12962962962962962"/>
            </c:manualLayout>
          </c:layout>
          <c:spPr>
            <a:solidFill>
              <a:sysClr val="window" lastClr="FFFFFF"/>
            </a:solidFill>
            <a:ln>
              <a:no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1"/>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5"/>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layout>
            <c:manualLayout>
              <c:x val="1.1111111111111059E-2"/>
              <c:y val="7.407407407407407E-2"/>
            </c:manualLayout>
          </c:layout>
          <c:spPr>
            <a:solidFill>
              <a:sysClr val="window" lastClr="FFFFFF"/>
            </a:solidFill>
            <a:ln>
              <a:no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1"/>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6"/>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layout>
            <c:manualLayout>
              <c:x val="-0.14444444444444443"/>
              <c:y val="-7.4074074074074153E-2"/>
            </c:manualLayout>
          </c:layout>
          <c:spPr>
            <a:solidFill>
              <a:sysClr val="window" lastClr="FFFFFF"/>
            </a:solidFill>
            <a:ln>
              <a:no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1"/>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7"/>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solidFill>
              <a:sysClr val="window" lastClr="FFFFFF"/>
            </a:solidFill>
            <a:ln>
              <a:no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1"/>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8"/>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layout>
            <c:manualLayout>
              <c:x val="9.9999999999999895E-2"/>
              <c:y val="-0.12962962962962962"/>
            </c:manualLayout>
          </c:layout>
          <c:spPr>
            <a:solidFill>
              <a:sysClr val="window" lastClr="FFFFFF"/>
            </a:solidFill>
            <a:ln>
              <a:no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1"/>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9"/>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layout>
            <c:manualLayout>
              <c:x val="1.1111111111111059E-2"/>
              <c:y val="7.407407407407407E-2"/>
            </c:manualLayout>
          </c:layout>
          <c:spPr>
            <a:solidFill>
              <a:sysClr val="window" lastClr="FFFFFF"/>
            </a:solidFill>
            <a:ln>
              <a:no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1"/>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layout>
            <c:manualLayout>
              <c:x val="-0.14444444444444443"/>
              <c:y val="-7.4074074074074153E-2"/>
            </c:manualLayout>
          </c:layout>
          <c:spPr>
            <a:solidFill>
              <a:sysClr val="window" lastClr="FFFFFF"/>
            </a:solidFill>
            <a:ln>
              <a:no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1"/>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s>
    <c:plotArea>
      <c:layout/>
      <c:doughnutChart>
        <c:varyColors val="1"/>
        <c:ser>
          <c:idx val="0"/>
          <c:order val="0"/>
          <c:tx>
            <c:strRef>
              <c:f>Sheet5!$B$3</c:f>
              <c:strCache>
                <c:ptCount val="1"/>
                <c:pt idx="0">
                  <c:v>Total</c:v>
                </c:pt>
              </c:strCache>
            </c:strRef>
          </c:tx>
          <c:dPt>
            <c:idx val="0"/>
            <c:bubble3D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C0DA-434E-B3D5-1472DA348F5F}"/>
              </c:ext>
            </c:extLst>
          </c:dPt>
          <c:dPt>
            <c:idx val="1"/>
            <c:bubble3D val="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C0DA-434E-B3D5-1472DA348F5F}"/>
              </c:ext>
            </c:extLst>
          </c:dPt>
          <c:dPt>
            <c:idx val="2"/>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C0DA-434E-B3D5-1472DA348F5F}"/>
              </c:ext>
            </c:extLst>
          </c:dPt>
          <c:dLbls>
            <c:dLbl>
              <c:idx val="0"/>
              <c:layout>
                <c:manualLayout>
                  <c:x val="9.9999999999999895E-2"/>
                  <c:y val="-0.12962962962962962"/>
                </c:manualLayout>
              </c:layout>
              <c:showLegendKey val="0"/>
              <c:showVal val="0"/>
              <c:showCatName val="1"/>
              <c:showSerName val="1"/>
              <c:showPercent val="1"/>
              <c:showBubbleSize val="0"/>
              <c:extLst>
                <c:ext xmlns:c15="http://schemas.microsoft.com/office/drawing/2012/chart" uri="{CE6537A1-D6FC-4f65-9D91-7224C49458BB}"/>
                <c:ext xmlns:c16="http://schemas.microsoft.com/office/drawing/2014/chart" uri="{C3380CC4-5D6E-409C-BE32-E72D297353CC}">
                  <c16:uniqueId val="{00000001-C0DA-434E-B3D5-1472DA348F5F}"/>
                </c:ext>
              </c:extLst>
            </c:dLbl>
            <c:dLbl>
              <c:idx val="1"/>
              <c:layout>
                <c:manualLayout>
                  <c:x val="1.1111111111111059E-2"/>
                  <c:y val="7.407407407407407E-2"/>
                </c:manualLayout>
              </c:layout>
              <c:showLegendKey val="0"/>
              <c:showVal val="0"/>
              <c:showCatName val="1"/>
              <c:showSerName val="1"/>
              <c:showPercent val="1"/>
              <c:showBubbleSize val="0"/>
              <c:extLst>
                <c:ext xmlns:c15="http://schemas.microsoft.com/office/drawing/2012/chart" uri="{CE6537A1-D6FC-4f65-9D91-7224C49458BB}"/>
                <c:ext xmlns:c16="http://schemas.microsoft.com/office/drawing/2014/chart" uri="{C3380CC4-5D6E-409C-BE32-E72D297353CC}">
                  <c16:uniqueId val="{00000003-C0DA-434E-B3D5-1472DA348F5F}"/>
                </c:ext>
              </c:extLst>
            </c:dLbl>
            <c:dLbl>
              <c:idx val="2"/>
              <c:layout>
                <c:manualLayout>
                  <c:x val="-0.14444444444444443"/>
                  <c:y val="-7.4074074074074153E-2"/>
                </c:manualLayout>
              </c:layout>
              <c:showLegendKey val="0"/>
              <c:showVal val="0"/>
              <c:showCatName val="1"/>
              <c:showSerName val="1"/>
              <c:showPercent val="1"/>
              <c:showBubbleSize val="0"/>
              <c:extLst>
                <c:ext xmlns:c15="http://schemas.microsoft.com/office/drawing/2012/chart" uri="{CE6537A1-D6FC-4f65-9D91-7224C49458BB}"/>
                <c:ext xmlns:c16="http://schemas.microsoft.com/office/drawing/2014/chart" uri="{C3380CC4-5D6E-409C-BE32-E72D297353CC}">
                  <c16:uniqueId val="{00000005-C0DA-434E-B3D5-1472DA348F5F}"/>
                </c:ext>
              </c:extLst>
            </c:dLbl>
            <c:spPr>
              <a:solidFill>
                <a:sysClr val="window" lastClr="FFFFFF"/>
              </a:solidFill>
              <a:ln>
                <a:no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1"/>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Sheet5!$A$4:$A$7</c:f>
              <c:strCache>
                <c:ptCount val="3"/>
                <c:pt idx="0">
                  <c:v>Female</c:v>
                </c:pt>
                <c:pt idx="1">
                  <c:v>Male</c:v>
                </c:pt>
                <c:pt idx="2">
                  <c:v>Other</c:v>
                </c:pt>
              </c:strCache>
            </c:strRef>
          </c:cat>
          <c:val>
            <c:numRef>
              <c:f>Sheet5!$B$4:$B$7</c:f>
              <c:numCache>
                <c:formatCode>General</c:formatCode>
                <c:ptCount val="3"/>
                <c:pt idx="0">
                  <c:v>5581</c:v>
                </c:pt>
                <c:pt idx="1">
                  <c:v>5479</c:v>
                </c:pt>
                <c:pt idx="2">
                  <c:v>5319</c:v>
                </c:pt>
              </c:numCache>
            </c:numRef>
          </c:val>
          <c:extLst>
            <c:ext xmlns:c16="http://schemas.microsoft.com/office/drawing/2014/chart" uri="{C3380CC4-5D6E-409C-BE32-E72D297353CC}">
              <c16:uniqueId val="{00000006-C0DA-434E-B3D5-1472DA348F5F}"/>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[teen_phone_addiction_dataset.xlsx]Age-wise averages for Addiction!PivotTable2</c:name>
    <c:fmtId val="26"/>
  </c:pivotSource>
  <c:chart>
    <c:title>
      <c:tx>
        <c:rich>
          <a:bodyPr rot="0" spcFirstLastPara="1" vertOverflow="ellipsis" vert="horz" wrap="square" anchor="ctr" anchorCtr="1"/>
          <a:lstStyle/>
          <a:p>
            <a:pPr>
              <a:defRPr sz="1400" b="1" i="0" u="none" strike="noStrike" kern="1200" cap="none" baseline="0">
                <a:solidFill>
                  <a:schemeClr val="lt1">
                    <a:lumMod val="85000"/>
                  </a:schemeClr>
                </a:solidFill>
                <a:latin typeface="+mn-lt"/>
                <a:ea typeface="+mn-ea"/>
                <a:cs typeface="+mn-cs"/>
              </a:defRPr>
            </a:pPr>
            <a:r>
              <a:rPr lang="en-IN" sz="1400" b="1" i="0" u="none" strike="noStrike" cap="none" baseline="0"/>
              <a:t>Age-wise averages for Addiction Level, Anxiety Level, and Depression Level</a:t>
            </a:r>
            <a:endParaRPr lang="en-US"/>
          </a:p>
        </c:rich>
      </c:tx>
      <c:overlay val="0"/>
      <c:spPr>
        <a:noFill/>
        <a:ln>
          <a:noFill/>
        </a:ln>
        <a:effectLst/>
      </c:spPr>
      <c:txPr>
        <a:bodyPr rot="0" spcFirstLastPara="1" vertOverflow="ellipsis" vert="horz" wrap="square" anchor="ctr" anchorCtr="1"/>
        <a:lstStyle/>
        <a:p>
          <a:pPr>
            <a:defRPr sz="1400" b="1" i="0" u="none" strike="noStrike" kern="1200" cap="none" baseline="0">
              <a:solidFill>
                <a:schemeClr val="lt1">
                  <a:lumMod val="85000"/>
                </a:schemeClr>
              </a:solidFill>
              <a:latin typeface="+mn-lt"/>
              <a:ea typeface="+mn-ea"/>
              <a:cs typeface="+mn-cs"/>
            </a:defRPr>
          </a:pPr>
          <a:endParaRPr lang="en-US"/>
        </a:p>
      </c:txPr>
    </c:title>
    <c:autoTitleDeleted val="0"/>
    <c:pivotFmts>
      <c:pivotFmt>
        <c:idx val="0"/>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3">
                <a:lumMod val="60000"/>
                <a:lumOff val="40000"/>
              </a:schemeClr>
            </a:solidFill>
            <a:ln>
              <a:noFill/>
            </a:ln>
            <a:effectLst>
              <a:glow rad="63500">
                <a:schemeClr val="accent3">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3">
                <a:lumMod val="60000"/>
                <a:lumOff val="40000"/>
              </a:schemeClr>
            </a:solidFill>
            <a:ln>
              <a:noFill/>
            </a:ln>
            <a:effectLst>
              <a:glow rad="63500">
                <a:schemeClr val="accent3">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3">
                <a:lumMod val="60000"/>
                <a:lumOff val="40000"/>
              </a:schemeClr>
            </a:solidFill>
            <a:ln>
              <a:noFill/>
            </a:ln>
            <a:effectLst>
              <a:glow rad="63500">
                <a:schemeClr val="accent3">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3">
                <a:lumMod val="60000"/>
                <a:lumOff val="40000"/>
              </a:schemeClr>
            </a:solidFill>
            <a:ln>
              <a:noFill/>
            </a:ln>
            <a:effectLst>
              <a:glow rad="63500">
                <a:schemeClr val="accent3">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3">
                <a:lumMod val="60000"/>
                <a:lumOff val="40000"/>
              </a:schemeClr>
            </a:solidFill>
            <a:ln>
              <a:noFill/>
            </a:ln>
            <a:effectLst>
              <a:glow rad="63500">
                <a:schemeClr val="accent3">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'Age-wise averages for Addiction'!$B$1</c:f>
              <c:strCache>
                <c:ptCount val="1"/>
                <c:pt idx="0">
                  <c:v>Average of Addiction_Level</c:v>
                </c:pt>
              </c:strCache>
            </c:strRef>
          </c:tx>
          <c:spPr>
            <a:ln w="22225" cap="rnd">
              <a:solidFill>
                <a:schemeClr val="accent1"/>
              </a:solidFill>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cat>
            <c:strRef>
              <c:f>'Age-wise averages for Addiction'!$A$2:$A$9</c:f>
              <c:strCache>
                <c:ptCount val="7"/>
                <c:pt idx="0">
                  <c:v>13</c:v>
                </c:pt>
                <c:pt idx="1">
                  <c:v>14</c:v>
                </c:pt>
                <c:pt idx="2">
                  <c:v>15</c:v>
                </c:pt>
                <c:pt idx="3">
                  <c:v>16</c:v>
                </c:pt>
                <c:pt idx="4">
                  <c:v>17</c:v>
                </c:pt>
                <c:pt idx="5">
                  <c:v>18</c:v>
                </c:pt>
                <c:pt idx="6">
                  <c:v>19</c:v>
                </c:pt>
              </c:strCache>
            </c:strRef>
          </c:cat>
          <c:val>
            <c:numRef>
              <c:f>'Age-wise averages for Addiction'!$B$2:$B$9</c:f>
              <c:numCache>
                <c:formatCode>General</c:formatCode>
                <c:ptCount val="7"/>
                <c:pt idx="0">
                  <c:v>8.7648960739030048</c:v>
                </c:pt>
                <c:pt idx="1">
                  <c:v>8.8292740046838443</c:v>
                </c:pt>
                <c:pt idx="2">
                  <c:v>8.8786542923433878</c:v>
                </c:pt>
                <c:pt idx="3">
                  <c:v>8.941327623126341</c:v>
                </c:pt>
                <c:pt idx="4">
                  <c:v>8.899757281553395</c:v>
                </c:pt>
                <c:pt idx="5">
                  <c:v>8.9388753056234727</c:v>
                </c:pt>
                <c:pt idx="6">
                  <c:v>8.9201900237529621</c:v>
                </c:pt>
              </c:numCache>
            </c:numRef>
          </c:val>
          <c:smooth val="0"/>
          <c:extLst>
            <c:ext xmlns:c16="http://schemas.microsoft.com/office/drawing/2014/chart" uri="{C3380CC4-5D6E-409C-BE32-E72D297353CC}">
              <c16:uniqueId val="{00000000-15DA-4600-B1F8-114FCCD99ABE}"/>
            </c:ext>
          </c:extLst>
        </c:ser>
        <c:ser>
          <c:idx val="1"/>
          <c:order val="1"/>
          <c:tx>
            <c:strRef>
              <c:f>'Age-wise averages for Addiction'!$C$1</c:f>
              <c:strCache>
                <c:ptCount val="1"/>
                <c:pt idx="0">
                  <c:v>Average of Anxiety_Level</c:v>
                </c:pt>
              </c:strCache>
            </c:strRef>
          </c:tx>
          <c:spPr>
            <a:ln w="22225" cap="rnd">
              <a:solidFill>
                <a:schemeClr val="accent2"/>
              </a:solidFill>
            </a:ln>
            <a:effectLst>
              <a:glow rad="139700">
                <a:schemeClr val="accent2">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cat>
            <c:strRef>
              <c:f>'Age-wise averages for Addiction'!$A$2:$A$9</c:f>
              <c:strCache>
                <c:ptCount val="7"/>
                <c:pt idx="0">
                  <c:v>13</c:v>
                </c:pt>
                <c:pt idx="1">
                  <c:v>14</c:v>
                </c:pt>
                <c:pt idx="2">
                  <c:v>15</c:v>
                </c:pt>
                <c:pt idx="3">
                  <c:v>16</c:v>
                </c:pt>
                <c:pt idx="4">
                  <c:v>17</c:v>
                </c:pt>
                <c:pt idx="5">
                  <c:v>18</c:v>
                </c:pt>
                <c:pt idx="6">
                  <c:v>19</c:v>
                </c:pt>
              </c:strCache>
            </c:strRef>
          </c:cat>
          <c:val>
            <c:numRef>
              <c:f>'Age-wise averages for Addiction'!$C$2:$C$9</c:f>
              <c:numCache>
                <c:formatCode>General</c:formatCode>
                <c:ptCount val="7"/>
                <c:pt idx="0">
                  <c:v>5.3510392609699773</c:v>
                </c:pt>
                <c:pt idx="1">
                  <c:v>5.6088992974238874</c:v>
                </c:pt>
                <c:pt idx="2">
                  <c:v>5.7122969837587005</c:v>
                </c:pt>
                <c:pt idx="3">
                  <c:v>5.6573875802997859</c:v>
                </c:pt>
                <c:pt idx="4">
                  <c:v>5.6553398058252426</c:v>
                </c:pt>
                <c:pt idx="5">
                  <c:v>5.5134474327628364</c:v>
                </c:pt>
                <c:pt idx="6">
                  <c:v>5.6270783847981001</c:v>
                </c:pt>
              </c:numCache>
            </c:numRef>
          </c:val>
          <c:smooth val="0"/>
          <c:extLst>
            <c:ext xmlns:c16="http://schemas.microsoft.com/office/drawing/2014/chart" uri="{C3380CC4-5D6E-409C-BE32-E72D297353CC}">
              <c16:uniqueId val="{00000001-15DA-4600-B1F8-114FCCD99ABE}"/>
            </c:ext>
          </c:extLst>
        </c:ser>
        <c:ser>
          <c:idx val="2"/>
          <c:order val="2"/>
          <c:tx>
            <c:strRef>
              <c:f>'Age-wise averages for Addiction'!$D$1</c:f>
              <c:strCache>
                <c:ptCount val="1"/>
                <c:pt idx="0">
                  <c:v>Average of Depression_Level</c:v>
                </c:pt>
              </c:strCache>
            </c:strRef>
          </c:tx>
          <c:spPr>
            <a:ln w="22225" cap="rnd">
              <a:solidFill>
                <a:schemeClr val="accent3"/>
              </a:solidFill>
            </a:ln>
            <a:effectLst>
              <a:glow rad="139700">
                <a:schemeClr val="accent3">
                  <a:satMod val="175000"/>
                  <a:alpha val="14000"/>
                </a:schemeClr>
              </a:glow>
            </a:effectLst>
          </c:spPr>
          <c:marker>
            <c:symbol val="circle"/>
            <c:size val="4"/>
            <c:spPr>
              <a:solidFill>
                <a:schemeClr val="accent3">
                  <a:lumMod val="60000"/>
                  <a:lumOff val="40000"/>
                </a:schemeClr>
              </a:solidFill>
              <a:ln>
                <a:noFill/>
              </a:ln>
              <a:effectLst>
                <a:glow rad="63500">
                  <a:schemeClr val="accent3">
                    <a:satMod val="175000"/>
                    <a:alpha val="25000"/>
                  </a:schemeClr>
                </a:glow>
              </a:effectLst>
            </c:spPr>
          </c:marker>
          <c:cat>
            <c:strRef>
              <c:f>'Age-wise averages for Addiction'!$A$2:$A$9</c:f>
              <c:strCache>
                <c:ptCount val="7"/>
                <c:pt idx="0">
                  <c:v>13</c:v>
                </c:pt>
                <c:pt idx="1">
                  <c:v>14</c:v>
                </c:pt>
                <c:pt idx="2">
                  <c:v>15</c:v>
                </c:pt>
                <c:pt idx="3">
                  <c:v>16</c:v>
                </c:pt>
                <c:pt idx="4">
                  <c:v>17</c:v>
                </c:pt>
                <c:pt idx="5">
                  <c:v>18</c:v>
                </c:pt>
                <c:pt idx="6">
                  <c:v>19</c:v>
                </c:pt>
              </c:strCache>
            </c:strRef>
          </c:cat>
          <c:val>
            <c:numRef>
              <c:f>'Age-wise averages for Addiction'!$D$2:$D$9</c:f>
              <c:numCache>
                <c:formatCode>General</c:formatCode>
                <c:ptCount val="7"/>
                <c:pt idx="0">
                  <c:v>5.0046189376443415</c:v>
                </c:pt>
                <c:pt idx="1">
                  <c:v>5.3840749414519911</c:v>
                </c:pt>
                <c:pt idx="2">
                  <c:v>5.7610208816705333</c:v>
                </c:pt>
                <c:pt idx="3">
                  <c:v>5.3511777301927195</c:v>
                </c:pt>
                <c:pt idx="4">
                  <c:v>5.366504854368932</c:v>
                </c:pt>
                <c:pt idx="5">
                  <c:v>5.8410757946210268</c:v>
                </c:pt>
                <c:pt idx="6">
                  <c:v>5.5415676959619953</c:v>
                </c:pt>
              </c:numCache>
            </c:numRef>
          </c:val>
          <c:smooth val="0"/>
          <c:extLst>
            <c:ext xmlns:c16="http://schemas.microsoft.com/office/drawing/2014/chart" uri="{C3380CC4-5D6E-409C-BE32-E72D297353CC}">
              <c16:uniqueId val="{00000002-15DA-4600-B1F8-114FCCD99ABE}"/>
            </c:ext>
          </c:extLst>
        </c:ser>
        <c:dLbls>
          <c:showLegendKey val="0"/>
          <c:showVal val="0"/>
          <c:showCatName val="0"/>
          <c:showSerName val="0"/>
          <c:showPercent val="0"/>
          <c:showBubbleSize val="0"/>
        </c:dLbls>
        <c:marker val="1"/>
        <c:smooth val="0"/>
        <c:axId val="590711504"/>
        <c:axId val="590704304"/>
      </c:lineChart>
      <c:catAx>
        <c:axId val="590711504"/>
        <c:scaling>
          <c:orientation val="minMax"/>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title>
          <c:tx>
            <c:rich>
              <a:bodyPr rot="0" spcFirstLastPara="1" vertOverflow="ellipsis" vert="horz" wrap="square" anchor="ctr" anchorCtr="1"/>
              <a:lstStyle/>
              <a:p>
                <a:pPr>
                  <a:defRPr sz="900" b="1" i="0" u="none" strike="noStrike" kern="1200" baseline="0">
                    <a:solidFill>
                      <a:schemeClr val="lt1">
                        <a:lumMod val="75000"/>
                      </a:schemeClr>
                    </a:solidFill>
                    <a:latin typeface="+mn-lt"/>
                    <a:ea typeface="+mn-ea"/>
                    <a:cs typeface="+mn-cs"/>
                  </a:defRPr>
                </a:pPr>
                <a:r>
                  <a:rPr lang="en-IN" sz="1000"/>
                  <a:t>Age</a:t>
                </a:r>
              </a:p>
            </c:rich>
          </c:tx>
          <c:layout>
            <c:manualLayout>
              <c:xMode val="edge"/>
              <c:yMode val="edge"/>
              <c:x val="0.37085895278127828"/>
              <c:y val="0.91776853365027478"/>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lt1">
                      <a:lumMod val="7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590704304"/>
        <c:crosses val="autoZero"/>
        <c:auto val="1"/>
        <c:lblAlgn val="ctr"/>
        <c:lblOffset val="100"/>
        <c:noMultiLvlLbl val="0"/>
      </c:catAx>
      <c:valAx>
        <c:axId val="590704304"/>
        <c:scaling>
          <c:orientation val="minMax"/>
        </c:scaling>
        <c:delete val="0"/>
        <c:axPos val="l"/>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title>
          <c:tx>
            <c:rich>
              <a:bodyPr rot="-5400000" spcFirstLastPara="1" vertOverflow="ellipsis" vert="horz" wrap="square" anchor="ctr" anchorCtr="1"/>
              <a:lstStyle/>
              <a:p>
                <a:pPr>
                  <a:defRPr sz="900" b="1" i="0" u="none" strike="noStrike" kern="1200" baseline="0">
                    <a:solidFill>
                      <a:schemeClr val="lt1">
                        <a:lumMod val="75000"/>
                      </a:schemeClr>
                    </a:solidFill>
                    <a:latin typeface="+mn-lt"/>
                    <a:ea typeface="+mn-ea"/>
                    <a:cs typeface="+mn-cs"/>
                  </a:defRPr>
                </a:pPr>
                <a:r>
                  <a:rPr lang="en-IN" sz="1000" b="1" i="0" u="none" strike="noStrike" kern="1200" cap="none" baseline="0">
                    <a:solidFill>
                      <a:sysClr val="window" lastClr="FFFFFF">
                        <a:lumMod val="75000"/>
                      </a:sysClr>
                    </a:solidFill>
                  </a:rPr>
                  <a:t>Averages for Addiction Level, Anxiety Level, and Depression Level</a:t>
                </a:r>
                <a:endParaRPr lang="en-IN"/>
              </a:p>
            </c:rich>
          </c:tx>
          <c:layout>
            <c:manualLayout>
              <c:xMode val="edge"/>
              <c:yMode val="edge"/>
              <c:x val="1.7801983676989666E-2"/>
              <c:y val="0.12793024585477417"/>
            </c:manualLayout>
          </c:layout>
          <c:overlay val="0"/>
          <c:spPr>
            <a:noFill/>
            <a:ln>
              <a:noFill/>
            </a:ln>
            <a:effectLst/>
          </c:spPr>
          <c:txPr>
            <a:bodyPr rot="-5400000" spcFirstLastPara="1" vertOverflow="ellipsis" vert="horz" wrap="square" anchor="ctr" anchorCtr="1"/>
            <a:lstStyle/>
            <a:p>
              <a:pPr>
                <a:defRPr sz="900" b="1" i="0" u="none" strike="noStrike" kern="1200" baseline="0">
                  <a:solidFill>
                    <a:schemeClr val="lt1">
                      <a:lumMod val="75000"/>
                    </a:schemeClr>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59071150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[teen_phone_addiction_dataset.xlsx]School_Grade - wise Average of !PivotTable4</c:name>
    <c:fmtId val="31"/>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School_Grade - wise Average of Phone_Checks_Per_Day </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dLbl>
          <c:idx val="0"/>
          <c:showLegendKey val="0"/>
          <c:showVal val="0"/>
          <c:showCatName val="0"/>
          <c:showSerName val="0"/>
          <c:showPercent val="0"/>
          <c:showBubbleSize val="0"/>
          <c:extLst>
            <c:ext xmlns:c15="http://schemas.microsoft.com/office/drawing/2012/chart" uri="{CE6537A1-D6FC-4f65-9D91-7224C49458BB}"/>
          </c:extLst>
        </c:dLbl>
      </c:pivotFmt>
      <c:pivotFmt>
        <c:idx val="3"/>
        <c:dLbl>
          <c:idx val="0"/>
          <c:showLegendKey val="0"/>
          <c:showVal val="0"/>
          <c:showCatName val="0"/>
          <c:showSerName val="0"/>
          <c:showPercent val="0"/>
          <c:showBubbleSize val="0"/>
          <c:extLst>
            <c:ext xmlns:c15="http://schemas.microsoft.com/office/drawing/2012/chart" uri="{CE6537A1-D6FC-4f65-9D91-7224C49458BB}"/>
          </c:extLst>
        </c:dLbl>
      </c:pivotFmt>
      <c:pivotFmt>
        <c:idx val="4"/>
        <c:dLbl>
          <c:idx val="0"/>
          <c:showLegendKey val="0"/>
          <c:showVal val="0"/>
          <c:showCatName val="0"/>
          <c:showSerName val="0"/>
          <c:showPercent val="0"/>
          <c:showBubbleSize val="0"/>
          <c:extLst>
            <c:ext xmlns:c15="http://schemas.microsoft.com/office/drawing/2012/chart" uri="{CE6537A1-D6FC-4f65-9D91-7224C49458BB}"/>
          </c:extLst>
        </c:dLbl>
      </c:pivotFmt>
      <c:pivotFmt>
        <c:idx val="5"/>
        <c:dLbl>
          <c:idx val="0"/>
          <c:showLegendKey val="0"/>
          <c:showVal val="0"/>
          <c:showCatName val="0"/>
          <c:showSerName val="0"/>
          <c:showPercent val="0"/>
          <c:showBubbleSize val="0"/>
          <c:extLst>
            <c:ext xmlns:c15="http://schemas.microsoft.com/office/drawing/2012/chart" uri="{CE6537A1-D6FC-4f65-9D91-7224C49458BB}"/>
          </c:extLst>
        </c:dLbl>
      </c:pivotFmt>
      <c:pivotFmt>
        <c:idx val="6"/>
        <c:dLbl>
          <c:idx val="0"/>
          <c:dLblPos val="outEnd"/>
          <c:showLegendKey val="0"/>
          <c:showVal val="0"/>
          <c:showCatName val="1"/>
          <c:showSerName val="0"/>
          <c:showPercent val="1"/>
          <c:showBubbleSize val="0"/>
          <c:extLst>
            <c:ext xmlns:c15="http://schemas.microsoft.com/office/drawing/2012/chart" uri="{CE6537A1-D6FC-4f65-9D91-7224C49458BB}"/>
          </c:extLst>
        </c:dLbl>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marker>
          <c:symbol val="circle"/>
          <c:size val="6"/>
        </c:marker>
        <c:dLbl>
          <c:idx val="0"/>
          <c:spPr>
            <a:solidFill>
              <a:sysClr val="window" lastClr="FFFFFF"/>
            </a:solidFill>
            <a:ln>
              <a:no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1"/>
          <c:showCatName val="1"/>
          <c:showSerName val="1"/>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8"/>
        <c:dLbl>
          <c:idx val="0"/>
          <c:dLblPos val="outEnd"/>
          <c:showLegendKey val="0"/>
          <c:showVal val="0"/>
          <c:showCatName val="1"/>
          <c:showSerName val="0"/>
          <c:showPercent val="1"/>
          <c:showBubbleSize val="0"/>
          <c:extLst>
            <c:ext xmlns:c15="http://schemas.microsoft.com/office/drawing/2012/chart" uri="{CE6537A1-D6FC-4f65-9D91-7224C49458BB}"/>
          </c:extLst>
        </c:dLbl>
      </c:pivotFmt>
      <c:pivotFmt>
        <c:idx val="9"/>
        <c:dLbl>
          <c:idx val="0"/>
          <c:dLblPos val="outEnd"/>
          <c:showLegendKey val="0"/>
          <c:showVal val="0"/>
          <c:showCatName val="1"/>
          <c:showSerName val="0"/>
          <c:showPercent val="1"/>
          <c:showBubbleSize val="0"/>
          <c:extLst>
            <c:ext xmlns:c15="http://schemas.microsoft.com/office/drawing/2012/chart" uri="{CE6537A1-D6FC-4f65-9D91-7224C49458BB}"/>
          </c:extLst>
        </c:dLbl>
      </c:pivotFmt>
      <c:pivotFmt>
        <c:idx val="10"/>
        <c:dLbl>
          <c:idx val="0"/>
          <c:dLblPos val="outEnd"/>
          <c:showLegendKey val="0"/>
          <c:showVal val="0"/>
          <c:showCatName val="1"/>
          <c:showSerName val="0"/>
          <c:showPercent val="1"/>
          <c:showBubbleSize val="0"/>
          <c:extLst>
            <c:ext xmlns:c15="http://schemas.microsoft.com/office/drawing/2012/chart" uri="{CE6537A1-D6FC-4f65-9D91-7224C49458BB}"/>
          </c:extLst>
        </c:dLbl>
      </c:pivotFmt>
      <c:pivotFmt>
        <c:idx val="11"/>
        <c:dLbl>
          <c:idx val="0"/>
          <c:dLblPos val="outEnd"/>
          <c:showLegendKey val="0"/>
          <c:showVal val="0"/>
          <c:showCatName val="1"/>
          <c:showSerName val="0"/>
          <c:showPercent val="1"/>
          <c:showBubbleSize val="0"/>
          <c:extLst>
            <c:ext xmlns:c15="http://schemas.microsoft.com/office/drawing/2012/chart" uri="{CE6537A1-D6FC-4f65-9D91-7224C49458BB}"/>
          </c:extLst>
        </c:dLbl>
      </c:pivotFmt>
      <c:pivotFmt>
        <c:idx val="12"/>
        <c:dLbl>
          <c:idx val="0"/>
          <c:dLblPos val="outEnd"/>
          <c:showLegendKey val="0"/>
          <c:showVal val="0"/>
          <c:showCatName val="1"/>
          <c:showSerName val="0"/>
          <c:showPercent val="1"/>
          <c:showBubbleSize val="0"/>
          <c:extLst>
            <c:ext xmlns:c15="http://schemas.microsoft.com/office/drawing/2012/chart" uri="{CE6537A1-D6FC-4f65-9D91-7224C49458BB}"/>
          </c:extLst>
        </c:dLbl>
      </c:pivotFmt>
      <c:pivotFmt>
        <c:idx val="13"/>
        <c:dLbl>
          <c:idx val="0"/>
          <c:dLblPos val="outEnd"/>
          <c:showLegendKey val="0"/>
          <c:showVal val="0"/>
          <c:showCatName val="1"/>
          <c:showSerName val="0"/>
          <c:showPercent val="1"/>
          <c:showBubbleSize val="0"/>
          <c:extLst>
            <c:ext xmlns:c15="http://schemas.microsoft.com/office/drawing/2012/chart" uri="{CE6537A1-D6FC-4f65-9D91-7224C49458BB}"/>
          </c:extLst>
        </c:dLbl>
      </c:pivotFmt>
      <c:pivotFmt>
        <c:idx val="14"/>
        <c:dLbl>
          <c:idx val="0"/>
          <c:dLblPos val="outEnd"/>
          <c:showLegendKey val="0"/>
          <c:showVal val="0"/>
          <c:showCatName val="1"/>
          <c:showSerName val="0"/>
          <c:showPercent val="1"/>
          <c:showBubbleSize val="0"/>
          <c:extLst>
            <c:ext xmlns:c15="http://schemas.microsoft.com/office/drawing/2012/chart" uri="{CE6537A1-D6FC-4f65-9D91-7224C49458BB}"/>
          </c:extLst>
        </c:dLbl>
      </c:pivotFmt>
      <c:pivotFmt>
        <c:idx val="15"/>
        <c:dLbl>
          <c:idx val="0"/>
          <c:dLblPos val="outEnd"/>
          <c:showLegendKey val="0"/>
          <c:showVal val="1"/>
          <c:showCatName val="1"/>
          <c:showSerName val="1"/>
          <c:showPercent val="1"/>
          <c:showBubbleSize val="0"/>
          <c:extLst>
            <c:ext xmlns:c15="http://schemas.microsoft.com/office/drawing/2012/chart" uri="{CE6537A1-D6FC-4f65-9D91-7224C49458BB}"/>
          </c:extLst>
        </c:dLbl>
      </c:pivotFmt>
      <c:pivotFmt>
        <c:idx val="16"/>
        <c:dLbl>
          <c:idx val="0"/>
          <c:dLblPos val="outEnd"/>
          <c:showLegendKey val="0"/>
          <c:showVal val="1"/>
          <c:showCatName val="1"/>
          <c:showSerName val="1"/>
          <c:showPercent val="1"/>
          <c:showBubbleSize val="0"/>
          <c:extLst>
            <c:ext xmlns:c15="http://schemas.microsoft.com/office/drawing/2012/chart" uri="{CE6537A1-D6FC-4f65-9D91-7224C49458BB}"/>
          </c:extLst>
        </c:dLbl>
      </c:pivotFmt>
      <c:pivotFmt>
        <c:idx val="17"/>
        <c:dLbl>
          <c:idx val="0"/>
          <c:dLblPos val="outEnd"/>
          <c:showLegendKey val="0"/>
          <c:showVal val="1"/>
          <c:showCatName val="1"/>
          <c:showSerName val="1"/>
          <c:showPercent val="1"/>
          <c:showBubbleSize val="0"/>
          <c:extLst>
            <c:ext xmlns:c15="http://schemas.microsoft.com/office/drawing/2012/chart" uri="{CE6537A1-D6FC-4f65-9D91-7224C49458BB}"/>
          </c:extLst>
        </c:dLbl>
      </c:pivotFmt>
      <c:pivotFmt>
        <c:idx val="18"/>
        <c:dLbl>
          <c:idx val="0"/>
          <c:dLblPos val="outEnd"/>
          <c:showLegendKey val="0"/>
          <c:showVal val="1"/>
          <c:showCatName val="1"/>
          <c:showSerName val="1"/>
          <c:showPercent val="1"/>
          <c:showBubbleSize val="0"/>
          <c:extLst>
            <c:ext xmlns:c15="http://schemas.microsoft.com/office/drawing/2012/chart" uri="{CE6537A1-D6FC-4f65-9D91-7224C49458BB}"/>
          </c:extLst>
        </c:dLbl>
      </c:pivotFmt>
      <c:pivotFmt>
        <c:idx val="19"/>
        <c:dLbl>
          <c:idx val="0"/>
          <c:dLblPos val="outEnd"/>
          <c:showLegendKey val="0"/>
          <c:showVal val="1"/>
          <c:showCatName val="1"/>
          <c:showSerName val="1"/>
          <c:showPercent val="1"/>
          <c:showBubbleSize val="0"/>
          <c:extLst>
            <c:ext xmlns:c15="http://schemas.microsoft.com/office/drawing/2012/chart" uri="{CE6537A1-D6FC-4f65-9D91-7224C49458BB}"/>
          </c:extLst>
        </c:dLbl>
      </c:pivotFmt>
      <c:pivotFmt>
        <c:idx val="20"/>
        <c:dLbl>
          <c:idx val="0"/>
          <c:dLblPos val="outEnd"/>
          <c:showLegendKey val="0"/>
          <c:showVal val="1"/>
          <c:showCatName val="1"/>
          <c:showSerName val="1"/>
          <c:showPercent val="1"/>
          <c:showBubbleSize val="0"/>
          <c:extLst>
            <c:ext xmlns:c15="http://schemas.microsoft.com/office/drawing/2012/chart" uri="{CE6537A1-D6FC-4f65-9D91-7224C49458BB}"/>
          </c:extLst>
        </c:dLbl>
      </c:pivotFmt>
      <c:pivotFmt>
        <c:idx val="21"/>
        <c:dLbl>
          <c:idx val="0"/>
          <c:dLblPos val="outEnd"/>
          <c:showLegendKey val="0"/>
          <c:showVal val="1"/>
          <c:showCatName val="1"/>
          <c:showSerName val="1"/>
          <c:showPercent val="1"/>
          <c:showBubbleSize val="0"/>
          <c:extLst>
            <c:ext xmlns:c15="http://schemas.microsoft.com/office/drawing/2012/chart" uri="{CE6537A1-D6FC-4f65-9D91-7224C49458BB}"/>
          </c:extLst>
        </c:dLbl>
      </c:pivotFmt>
      <c:pivotFmt>
        <c:idx val="22"/>
        <c:dLbl>
          <c:idx val="0"/>
          <c:dLblPos val="outEnd"/>
          <c:showLegendKey val="0"/>
          <c:showVal val="1"/>
          <c:showCatName val="1"/>
          <c:showSerName val="1"/>
          <c:showPercent val="1"/>
          <c:showBubbleSize val="0"/>
          <c:extLst>
            <c:ext xmlns:c15="http://schemas.microsoft.com/office/drawing/2012/chart" uri="{CE6537A1-D6FC-4f65-9D91-7224C49458BB}"/>
          </c:extLst>
        </c:dLbl>
      </c:pivotFmt>
      <c:pivotFmt>
        <c:idx val="2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dLbl>
          <c:idx val="0"/>
          <c:spPr>
            <a:solidFill>
              <a:sysClr val="window" lastClr="FFFFFF"/>
            </a:solidFill>
            <a:ln>
              <a:no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1"/>
          <c:showCatName val="1"/>
          <c:showSerName val="1"/>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4"/>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dLbl>
          <c:idx val="0"/>
          <c:spPr>
            <a:solidFill>
              <a:sysClr val="window" lastClr="FFFFFF"/>
            </a:solidFill>
            <a:ln>
              <a:no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1"/>
          <c:showCatName val="1"/>
          <c:showSerName val="1"/>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5"/>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dLbl>
          <c:idx val="0"/>
          <c:spPr>
            <a:solidFill>
              <a:sysClr val="window" lastClr="FFFFFF"/>
            </a:solidFill>
            <a:ln>
              <a:no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1"/>
          <c:showCatName val="1"/>
          <c:showSerName val="1"/>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6"/>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dLbl>
          <c:idx val="0"/>
          <c:spPr>
            <a:solidFill>
              <a:sysClr val="window" lastClr="FFFFFF"/>
            </a:solidFill>
            <a:ln>
              <a:no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1"/>
          <c:showCatName val="1"/>
          <c:showSerName val="1"/>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7"/>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dLbl>
          <c:idx val="0"/>
          <c:spPr>
            <a:solidFill>
              <a:sysClr val="window" lastClr="FFFFFF"/>
            </a:solidFill>
            <a:ln>
              <a:no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1"/>
          <c:showCatName val="1"/>
          <c:showSerName val="1"/>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8"/>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dLbl>
          <c:idx val="0"/>
          <c:spPr>
            <a:solidFill>
              <a:sysClr val="window" lastClr="FFFFFF"/>
            </a:solidFill>
            <a:ln>
              <a:no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1"/>
          <c:showCatName val="1"/>
          <c:showSerName val="1"/>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marker>
          <c:symbol val="none"/>
        </c:marker>
        <c:dLbl>
          <c:idx val="0"/>
          <c:spPr>
            <a:solidFill>
              <a:sysClr val="window" lastClr="FFFFFF"/>
            </a:solidFill>
            <a:ln>
              <a:no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1"/>
          <c:showCatName val="1"/>
          <c:showSerName val="1"/>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pivotFmt>
      <c:pivotFmt>
        <c:idx val="3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pivotFmt>
      <c:pivotFmt>
        <c:idx val="3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pivotFmt>
      <c:pivotFmt>
        <c:idx val="3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pivotFmt>
      <c:pivotFmt>
        <c:idx val="3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pivotFmt>
      <c:pivotFmt>
        <c:idx val="3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pivotFmt>
      <c:pivotFmt>
        <c:idx val="3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marker>
          <c:symbol val="none"/>
        </c:marker>
        <c:dLbl>
          <c:idx val="0"/>
          <c:spPr>
            <a:solidFill>
              <a:sysClr val="window" lastClr="FFFFFF"/>
            </a:solidFill>
            <a:ln>
              <a:no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1"/>
          <c:showCatName val="1"/>
          <c:showSerName val="1"/>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pivotFmt>
      <c:pivotFmt>
        <c:idx val="3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pivotFmt>
      <c:pivotFmt>
        <c:idx val="3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pivotFmt>
      <c:pivotFmt>
        <c:idx val="4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pivotFmt>
      <c:pivotFmt>
        <c:idx val="4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pivotFmt>
      <c:pivotFmt>
        <c:idx val="4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pivotFmt>
      <c:pivotFmt>
        <c:idx val="4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marker>
          <c:symbol val="none"/>
        </c:marker>
        <c:dLbl>
          <c:idx val="0"/>
          <c:spPr>
            <a:solidFill>
              <a:sysClr val="window" lastClr="FFFFFF"/>
            </a:solidFill>
            <a:ln>
              <a:no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1"/>
          <c:showCatName val="1"/>
          <c:showSerName val="1"/>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pivotFmt>
      <c:pivotFmt>
        <c:idx val="4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pivotFmt>
      <c:pivotFmt>
        <c:idx val="4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pivotFmt>
      <c:pivotFmt>
        <c:idx val="4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pivotFmt>
      <c:pivotFmt>
        <c:idx val="4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pivotFmt>
      <c:pivotFmt>
        <c:idx val="4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pivotFmt>
      <c:pivotFmt>
        <c:idx val="5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marker>
          <c:symbol val="none"/>
        </c:marker>
        <c:dLbl>
          <c:idx val="0"/>
          <c:spPr>
            <a:solidFill>
              <a:sysClr val="window" lastClr="FFFFFF"/>
            </a:solidFill>
            <a:ln>
              <a:no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1"/>
          <c:showCatName val="1"/>
          <c:showSerName val="1"/>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5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pivotFmt>
      <c:pivotFmt>
        <c:idx val="5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pivotFmt>
      <c:pivotFmt>
        <c:idx val="5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pivotFmt>
      <c:pivotFmt>
        <c:idx val="5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pivotFmt>
      <c:pivotFmt>
        <c:idx val="5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pivotFmt>
      <c:pivotFmt>
        <c:idx val="5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pivotFmt>
    </c:pivotFmts>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'School_Grade - wise Average of '!$B$1</c:f>
              <c:strCache>
                <c:ptCount val="1"/>
                <c:pt idx="0">
                  <c:v>Total</c:v>
                </c:pt>
              </c:strCache>
            </c:strRef>
          </c:tx>
          <c:dPt>
            <c:idx val="0"/>
            <c:bubble3D val="0"/>
            <c:explosion val="3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extLst>
              <c:ext xmlns:c16="http://schemas.microsoft.com/office/drawing/2014/chart" uri="{C3380CC4-5D6E-409C-BE32-E72D297353CC}">
                <c16:uniqueId val="{00000001-7743-44EF-9BB5-30C0841FEDFD}"/>
              </c:ext>
            </c:extLst>
          </c:dPt>
          <c:dPt>
            <c:idx val="1"/>
            <c:bubble3D val="0"/>
            <c:explosion val="2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extLst>
              <c:ext xmlns:c16="http://schemas.microsoft.com/office/drawing/2014/chart" uri="{C3380CC4-5D6E-409C-BE32-E72D297353CC}">
                <c16:uniqueId val="{00000003-7743-44EF-9BB5-30C0841FEDFD}"/>
              </c:ext>
            </c:extLst>
          </c:dPt>
          <c:dPt>
            <c:idx val="2"/>
            <c:bubble3D val="0"/>
            <c:explosion val="22"/>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extLst>
              <c:ext xmlns:c16="http://schemas.microsoft.com/office/drawing/2014/chart" uri="{C3380CC4-5D6E-409C-BE32-E72D297353CC}">
                <c16:uniqueId val="{00000005-7743-44EF-9BB5-30C0841FEDFD}"/>
              </c:ext>
            </c:extLst>
          </c:dPt>
          <c:dPt>
            <c:idx val="3"/>
            <c:bubble3D val="0"/>
            <c:explosion val="26"/>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extLst>
              <c:ext xmlns:c16="http://schemas.microsoft.com/office/drawing/2014/chart" uri="{C3380CC4-5D6E-409C-BE32-E72D297353CC}">
                <c16:uniqueId val="{00000007-7743-44EF-9BB5-30C0841FEDFD}"/>
              </c:ext>
            </c:extLst>
          </c:dPt>
          <c:dPt>
            <c:idx val="4"/>
            <c:bubble3D val="0"/>
            <c:explosion val="19"/>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extLst>
              <c:ext xmlns:c16="http://schemas.microsoft.com/office/drawing/2014/chart" uri="{C3380CC4-5D6E-409C-BE32-E72D297353CC}">
                <c16:uniqueId val="{00000009-7743-44EF-9BB5-30C0841FEDFD}"/>
              </c:ext>
            </c:extLst>
          </c:dPt>
          <c:dPt>
            <c:idx val="5"/>
            <c:bubble3D val="0"/>
            <c:explosion val="28"/>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extLst>
              <c:ext xmlns:c16="http://schemas.microsoft.com/office/drawing/2014/chart" uri="{C3380CC4-5D6E-409C-BE32-E72D297353CC}">
                <c16:uniqueId val="{0000000B-7743-44EF-9BB5-30C0841FEDFD}"/>
              </c:ext>
            </c:extLst>
          </c:dPt>
          <c:dPt>
            <c:idx val="6"/>
            <c:bubble3D val="0"/>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extLst>
              <c:ext xmlns:c16="http://schemas.microsoft.com/office/drawing/2014/chart" uri="{C3380CC4-5D6E-409C-BE32-E72D297353CC}">
                <c16:uniqueId val="{0000000D-7743-44EF-9BB5-30C0841FEDFD}"/>
              </c:ext>
            </c:extLst>
          </c:dPt>
          <c:dLbls>
            <c:spPr>
              <a:solidFill>
                <a:sysClr val="window" lastClr="FFFFFF"/>
              </a:solidFill>
              <a:ln>
                <a:no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1"/>
            <c:showCatName val="1"/>
            <c:showSerName val="1"/>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'School_Grade - wise Average of '!$A$2:$A$7</c:f>
              <c:strCache>
                <c:ptCount val="6"/>
                <c:pt idx="0">
                  <c:v>10th</c:v>
                </c:pt>
                <c:pt idx="1">
                  <c:v>11th</c:v>
                </c:pt>
                <c:pt idx="2">
                  <c:v>12th</c:v>
                </c:pt>
                <c:pt idx="3">
                  <c:v>7th</c:v>
                </c:pt>
                <c:pt idx="4">
                  <c:v>8th</c:v>
                </c:pt>
                <c:pt idx="5">
                  <c:v>9th</c:v>
                </c:pt>
              </c:strCache>
            </c:strRef>
          </c:cat>
          <c:val>
            <c:numRef>
              <c:f>'School_Grade - wise Average of '!$B$2:$B$7</c:f>
              <c:numCache>
                <c:formatCode>General</c:formatCode>
                <c:ptCount val="6"/>
                <c:pt idx="0">
                  <c:v>82.57494866529774</c:v>
                </c:pt>
                <c:pt idx="1">
                  <c:v>82.584551148225472</c:v>
                </c:pt>
                <c:pt idx="2">
                  <c:v>84.491493383742906</c:v>
                </c:pt>
                <c:pt idx="3">
                  <c:v>83.531187122736412</c:v>
                </c:pt>
                <c:pt idx="4">
                  <c:v>83.487551867219921</c:v>
                </c:pt>
                <c:pt idx="5">
                  <c:v>81.853612167300383</c:v>
                </c:pt>
              </c:numCache>
            </c:numRef>
          </c:val>
          <c:extLst>
            <c:ext xmlns:c16="http://schemas.microsoft.com/office/drawing/2014/chart" uri="{C3380CC4-5D6E-409C-BE32-E72D297353CC}">
              <c16:uniqueId val="{0000000E-7743-44EF-9BB5-30C0841FEDFD}"/>
            </c:ext>
          </c:extLst>
        </c:ser>
        <c:dLbls>
          <c:dLblPos val="outEnd"/>
          <c:showLegendKey val="0"/>
          <c:showVal val="0"/>
          <c:showCatName val="1"/>
          <c:showSerName val="0"/>
          <c:showPercent val="0"/>
          <c:showBubbleSize val="0"/>
          <c:showLeaderLines val="0"/>
        </c:dLbls>
      </c:pie3DChart>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[teen_phone_addiction_dataset.xlsx]Age - wise Average of Addiction!PivotTable3</c:name>
    <c:fmtId val="22"/>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a:t>Age - wise Average of Addiction_Level</a:t>
            </a:r>
          </a:p>
          <a:p>
            <a:pPr>
              <a:defRPr/>
            </a:pPr>
            <a:r>
              <a:rPr lang="en-IN"/>
              <a:t> </a:t>
            </a:r>
          </a:p>
        </c:rich>
      </c:tx>
      <c:layout>
        <c:manualLayout>
          <c:xMode val="edge"/>
          <c:yMode val="edge"/>
          <c:x val="0.26827114002054092"/>
          <c:y val="5.0770680691940545E-2"/>
        </c:manualLayout>
      </c:layout>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clustered"/>
        <c:varyColors val="0"/>
        <c:ser>
          <c:idx val="0"/>
          <c:order val="0"/>
          <c:tx>
            <c:strRef>
              <c:f>'Age - wise Average of Addiction'!$B$1:$B$2</c:f>
              <c:strCache>
                <c:ptCount val="1"/>
                <c:pt idx="0">
                  <c:v>Female</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invertIfNegative val="0"/>
          <c:cat>
            <c:strRef>
              <c:f>'Age - wise Average of Addiction'!$A$3:$A$10</c:f>
              <c:strCache>
                <c:ptCount val="7"/>
                <c:pt idx="0">
                  <c:v>13</c:v>
                </c:pt>
                <c:pt idx="1">
                  <c:v>14</c:v>
                </c:pt>
                <c:pt idx="2">
                  <c:v>15</c:v>
                </c:pt>
                <c:pt idx="3">
                  <c:v>16</c:v>
                </c:pt>
                <c:pt idx="4">
                  <c:v>17</c:v>
                </c:pt>
                <c:pt idx="5">
                  <c:v>18</c:v>
                </c:pt>
                <c:pt idx="6">
                  <c:v>19</c:v>
                </c:pt>
              </c:strCache>
            </c:strRef>
          </c:cat>
          <c:val>
            <c:numRef>
              <c:f>'Age - wise Average of Addiction'!$B$3:$B$10</c:f>
              <c:numCache>
                <c:formatCode>General</c:formatCode>
                <c:ptCount val="7"/>
                <c:pt idx="0">
                  <c:v>8.9753424657534246</c:v>
                </c:pt>
                <c:pt idx="1">
                  <c:v>8.8876923076923102</c:v>
                </c:pt>
                <c:pt idx="2">
                  <c:v>9.0123287671232895</c:v>
                </c:pt>
                <c:pt idx="3">
                  <c:v>8.8662921348314612</c:v>
                </c:pt>
                <c:pt idx="4">
                  <c:v>8.9408450704225384</c:v>
                </c:pt>
                <c:pt idx="5">
                  <c:v>8.8426356589147268</c:v>
                </c:pt>
                <c:pt idx="6">
                  <c:v>9.141176470588233</c:v>
                </c:pt>
              </c:numCache>
            </c:numRef>
          </c:val>
          <c:extLst>
            <c:ext xmlns:c16="http://schemas.microsoft.com/office/drawing/2014/chart" uri="{C3380CC4-5D6E-409C-BE32-E72D297353CC}">
              <c16:uniqueId val="{00000000-65A4-4F37-A359-26C679E95DF8}"/>
            </c:ext>
          </c:extLst>
        </c:ser>
        <c:ser>
          <c:idx val="1"/>
          <c:order val="1"/>
          <c:tx>
            <c:strRef>
              <c:f>'Age - wise Average of Addiction'!$C$1:$C$2</c:f>
              <c:strCache>
                <c:ptCount val="1"/>
                <c:pt idx="0">
                  <c:v>Male</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invertIfNegative val="0"/>
          <c:cat>
            <c:strRef>
              <c:f>'Age - wise Average of Addiction'!$A$3:$A$10</c:f>
              <c:strCache>
                <c:ptCount val="7"/>
                <c:pt idx="0">
                  <c:v>13</c:v>
                </c:pt>
                <c:pt idx="1">
                  <c:v>14</c:v>
                </c:pt>
                <c:pt idx="2">
                  <c:v>15</c:v>
                </c:pt>
                <c:pt idx="3">
                  <c:v>16</c:v>
                </c:pt>
                <c:pt idx="4">
                  <c:v>17</c:v>
                </c:pt>
                <c:pt idx="5">
                  <c:v>18</c:v>
                </c:pt>
                <c:pt idx="6">
                  <c:v>19</c:v>
                </c:pt>
              </c:strCache>
            </c:strRef>
          </c:cat>
          <c:val>
            <c:numRef>
              <c:f>'Age - wise Average of Addiction'!$C$3:$C$10</c:f>
              <c:numCache>
                <c:formatCode>General</c:formatCode>
                <c:ptCount val="7"/>
                <c:pt idx="0">
                  <c:v>8.6485714285714277</c:v>
                </c:pt>
                <c:pt idx="1">
                  <c:v>8.6986394557823132</c:v>
                </c:pt>
                <c:pt idx="2">
                  <c:v>8.7442857142857147</c:v>
                </c:pt>
                <c:pt idx="3">
                  <c:v>9.0756578947368407</c:v>
                </c:pt>
                <c:pt idx="4">
                  <c:v>8.9171641791044784</c:v>
                </c:pt>
                <c:pt idx="5">
                  <c:v>9.1272727272727288</c:v>
                </c:pt>
                <c:pt idx="6">
                  <c:v>8.849375000000002</c:v>
                </c:pt>
              </c:numCache>
            </c:numRef>
          </c:val>
          <c:extLst>
            <c:ext xmlns:c16="http://schemas.microsoft.com/office/drawing/2014/chart" uri="{C3380CC4-5D6E-409C-BE32-E72D297353CC}">
              <c16:uniqueId val="{00000001-65A4-4F37-A359-26C679E95DF8}"/>
            </c:ext>
          </c:extLst>
        </c:ser>
        <c:ser>
          <c:idx val="2"/>
          <c:order val="2"/>
          <c:tx>
            <c:strRef>
              <c:f>'Age - wise Average of Addiction'!$D$1:$D$2</c:f>
              <c:strCache>
                <c:ptCount val="1"/>
                <c:pt idx="0">
                  <c:v>Other</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invertIfNegative val="0"/>
          <c:cat>
            <c:strRef>
              <c:f>'Age - wise Average of Addiction'!$A$3:$A$10</c:f>
              <c:strCache>
                <c:ptCount val="7"/>
                <c:pt idx="0">
                  <c:v>13</c:v>
                </c:pt>
                <c:pt idx="1">
                  <c:v>14</c:v>
                </c:pt>
                <c:pt idx="2">
                  <c:v>15</c:v>
                </c:pt>
                <c:pt idx="3">
                  <c:v>16</c:v>
                </c:pt>
                <c:pt idx="4">
                  <c:v>17</c:v>
                </c:pt>
                <c:pt idx="5">
                  <c:v>18</c:v>
                </c:pt>
                <c:pt idx="6">
                  <c:v>19</c:v>
                </c:pt>
              </c:strCache>
            </c:strRef>
          </c:cat>
          <c:val>
            <c:numRef>
              <c:f>'Age - wise Average of Addiction'!$D$3:$D$10</c:f>
              <c:numCache>
                <c:formatCode>General</c:formatCode>
                <c:ptCount val="7"/>
                <c:pt idx="0">
                  <c:v>8.6666666666666643</c:v>
                </c:pt>
                <c:pt idx="1">
                  <c:v>8.9066666666666663</c:v>
                </c:pt>
                <c:pt idx="2">
                  <c:v>8.8737931034482713</c:v>
                </c:pt>
                <c:pt idx="3">
                  <c:v>8.8897810218978091</c:v>
                </c:pt>
                <c:pt idx="4">
                  <c:v>8.8397058823529377</c:v>
                </c:pt>
                <c:pt idx="5">
                  <c:v>8.8328467153284684</c:v>
                </c:pt>
                <c:pt idx="6">
                  <c:v>8.7704000000000057</c:v>
                </c:pt>
              </c:numCache>
            </c:numRef>
          </c:val>
          <c:extLst>
            <c:ext xmlns:c16="http://schemas.microsoft.com/office/drawing/2014/chart" uri="{C3380CC4-5D6E-409C-BE32-E72D297353CC}">
              <c16:uniqueId val="{00000002-65A4-4F37-A359-26C679E95DF8}"/>
            </c:ext>
          </c:extLst>
        </c:ser>
        <c:dLbls>
          <c:showLegendKey val="0"/>
          <c:showVal val="0"/>
          <c:showCatName val="0"/>
          <c:showSerName val="0"/>
          <c:showPercent val="0"/>
          <c:showBubbleSize val="0"/>
        </c:dLbls>
        <c:gapWidth val="150"/>
        <c:shape val="box"/>
        <c:axId val="708271104"/>
        <c:axId val="708271584"/>
        <c:axId val="0"/>
      </c:bar3DChart>
      <c:catAx>
        <c:axId val="708271104"/>
        <c:scaling>
          <c:orientation val="minMax"/>
        </c:scaling>
        <c:delete val="0"/>
        <c:axPos val="l"/>
        <c:title>
          <c:tx>
            <c:rich>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IN"/>
                  <a:t>Age</a:t>
                </a:r>
              </a:p>
            </c:rich>
          </c:tx>
          <c:layout>
            <c:manualLayout>
              <c:xMode val="edge"/>
              <c:yMode val="edge"/>
              <c:x val="0.10471968177890807"/>
              <c:y val="0.4666438654627631"/>
            </c:manualLayout>
          </c:layout>
          <c:overlay val="0"/>
          <c:spPr>
            <a:noFill/>
            <a:ln>
              <a:noFill/>
            </a:ln>
            <a:effectLst/>
          </c:spPr>
          <c:txPr>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708271584"/>
        <c:crosses val="autoZero"/>
        <c:auto val="1"/>
        <c:lblAlgn val="ctr"/>
        <c:lblOffset val="100"/>
        <c:noMultiLvlLbl val="0"/>
      </c:catAx>
      <c:valAx>
        <c:axId val="708271584"/>
        <c:scaling>
          <c:orientation val="minMax"/>
        </c:scaling>
        <c:delete val="0"/>
        <c:axPos val="b"/>
        <c:majorGridlines>
          <c:spPr>
            <a:ln w="9525" cap="flat" cmpd="sng" algn="ctr">
              <a:solidFill>
                <a:schemeClr val="dk1">
                  <a:lumMod val="50000"/>
                  <a:lumOff val="50000"/>
                </a:schemeClr>
              </a:solidFill>
              <a:round/>
            </a:ln>
            <a:effectLst/>
          </c:spPr>
        </c:majorGridlines>
        <c:title>
          <c:tx>
            <c:rich>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IN"/>
                  <a:t>Average of Addiction_Level</a:t>
                </a:r>
              </a:p>
            </c:rich>
          </c:tx>
          <c:overlay val="0"/>
          <c:spPr>
            <a:noFill/>
            <a:ln>
              <a:noFill/>
            </a:ln>
            <a:effectLst/>
          </c:spPr>
          <c:txPr>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70827110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4">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dk1">
            <a:lumMod val="50000"/>
            <a:lumOff val="50000"/>
          </a:schemeClr>
        </a:solidFill>
        <a:round/>
      </a:ln>
    </cs:spPr>
  </cs:gridlineMajor>
  <cs:gridlineMinor>
    <cs:lnRef idx="0"/>
    <cs:fillRef idx="0"/>
    <cs:effectRef idx="0"/>
    <cs:fontRef idx="minor">
      <a:schemeClr val="tx1"/>
    </cs:fontRef>
    <cs:spPr>
      <a:ln>
        <a:solidFill>
          <a:schemeClr val="dk1">
            <a:lumMod val="60000"/>
            <a:lumOff val="40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328">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gradFill>
        <a:gsLst>
          <a:gs pos="100000">
            <a:schemeClr val="dk1">
              <a:lumMod val="95000"/>
              <a:lumOff val="5000"/>
            </a:schemeClr>
          </a:gs>
          <a:gs pos="0">
            <a:schemeClr val="dk1">
              <a:lumMod val="75000"/>
              <a:lumOff val="25000"/>
            </a:schemeClr>
          </a:gs>
        </a:gsLst>
        <a:path path="circle">
          <a:fillToRect l="50000" t="50000" r="50000" b="50000"/>
        </a:path>
      </a:gradFill>
      <a:ln w="9525">
        <a:solidFill>
          <a:schemeClr val="dk1">
            <a:lumMod val="75000"/>
            <a:lumOff val="25000"/>
          </a:schemeClr>
        </a:solidFill>
      </a:ln>
    </cs:spPr>
  </cs:downBar>
  <cs:dropLine>
    <cs:lnRef idx="0"/>
    <cs:fillRef idx="0"/>
    <cs:effectRef idx="0"/>
    <cs:fontRef idx="minor">
      <a:schemeClr val="tx1"/>
    </cs:fontRef>
    <cs:spPr>
      <a:ln w="9525" cap="flat" cmpd="sng" algn="ctr">
        <a:solidFill>
          <a:schemeClr val="lt1"/>
        </a:solidFill>
        <a:round/>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cap="flat" cmpd="sng" algn="ctr">
        <a:solidFill>
          <a:schemeClr val="lt1"/>
        </a:solidFill>
        <a:round/>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gradFill>
        <a:gsLst>
          <a:gs pos="100000">
            <a:schemeClr val="lt1">
              <a:lumMod val="85000"/>
            </a:schemeClr>
          </a:gs>
          <a:gs pos="0">
            <a:schemeClr val="lt1"/>
          </a:gs>
        </a:gsLst>
        <a:path path="circle">
          <a:fillToRect l="50000" t="50000" r="50000" b="50000"/>
        </a:path>
      </a:gradFill>
      <a:ln w="9525" cap="flat" cmpd="sng" algn="ctr">
        <a:solidFill>
          <a:schemeClr val="lt1"/>
        </a:solidFill>
        <a:round/>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257">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236">
  <cs:axisTitle>
    <cs:lnRef idx="0"/>
    <cs:fillRef idx="0"/>
    <cs:effectRef idx="0"/>
    <cs:fontRef idx="minor">
      <a:schemeClr val="lt1">
        <a:lumMod val="75000"/>
      </a:schemeClr>
    </cs:fontRef>
    <cs:defRPr sz="900" b="1"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9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68">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294">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dk1">
            <a:lumMod val="50000"/>
            <a:lumOff val="50000"/>
          </a:schemeClr>
        </a:solidFill>
        <a:round/>
      </a:ln>
    </cs:spPr>
  </cs:gridlineMajor>
  <cs:gridlineMinor>
    <cs:lnRef idx="0"/>
    <cs:fillRef idx="0"/>
    <cs:effectRef idx="0"/>
    <cs:fontRef idx="minor">
      <a:schemeClr val="tx1"/>
    </cs:fontRef>
    <cs:spPr>
      <a:ln>
        <a:solidFill>
          <a:schemeClr val="dk1">
            <a:lumMod val="60000"/>
            <a:lumOff val="40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69F911-FDC0-46A8-B029-FAF3D3E4192C}" type="datetimeFigureOut">
              <a:rPr lang="en-IN" smtClean="0"/>
              <a:t>27-07-2025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2832DB-1B45-491E-9D99-29703DB9934C}" type="slidenum">
              <a:rPr lang="en-IN" smtClean="0"/>
              <a:t>‹#›</a:t>
            </a:fld>
            <a:endParaRPr lang="en-IN"/>
          </a:p>
        </p:txBody>
      </p:sp>
    </p:spTree>
    <p:extLst>
      <p:ext uri="{BB962C8B-B14F-4D97-AF65-F5344CB8AC3E}">
        <p14:creationId xmlns:p14="http://schemas.microsoft.com/office/powerpoint/2010/main" val="1094201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02832DB-1B45-491E-9D99-29703DB9934C}" type="slidenum">
              <a:rPr lang="en-IN" smtClean="0"/>
              <a:t>5</a:t>
            </a:fld>
            <a:endParaRPr lang="en-IN"/>
          </a:p>
        </p:txBody>
      </p:sp>
    </p:spTree>
    <p:extLst>
      <p:ext uri="{BB962C8B-B14F-4D97-AF65-F5344CB8AC3E}">
        <p14:creationId xmlns:p14="http://schemas.microsoft.com/office/powerpoint/2010/main" val="37025512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2EFAF-B413-E37C-A33E-30511C9B57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6E55B2-CE28-E301-54B9-96C46BF870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C9A0A4-62E0-7B8F-ABD2-CA3841419D3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52B04DC-CDCD-9B58-FE72-609644DAF4B4}"/>
              </a:ext>
            </a:extLst>
          </p:cNvPr>
          <p:cNvSpPr>
            <a:spLocks noGrp="1"/>
          </p:cNvSpPr>
          <p:nvPr>
            <p:ph type="sldNum" sz="quarter" idx="5"/>
          </p:nvPr>
        </p:nvSpPr>
        <p:spPr/>
        <p:txBody>
          <a:bodyPr/>
          <a:lstStyle/>
          <a:p>
            <a:fld id="{F02832DB-1B45-491E-9D99-29703DB9934C}" type="slidenum">
              <a:rPr lang="en-IN" smtClean="0"/>
              <a:t>6</a:t>
            </a:fld>
            <a:endParaRPr lang="en-IN"/>
          </a:p>
        </p:txBody>
      </p:sp>
    </p:spTree>
    <p:extLst>
      <p:ext uri="{BB962C8B-B14F-4D97-AF65-F5344CB8AC3E}">
        <p14:creationId xmlns:p14="http://schemas.microsoft.com/office/powerpoint/2010/main" val="28198292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A3F5A-91FD-ACD1-D0F7-DECA71E1B6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37EB30-3047-BDF6-88A4-DCFB4EEC6B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819979-138F-F8C4-4B1D-C5CD5539BD5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C3955BB-7BF0-38BC-7BA8-70E7C46E6C6B}"/>
              </a:ext>
            </a:extLst>
          </p:cNvPr>
          <p:cNvSpPr>
            <a:spLocks noGrp="1"/>
          </p:cNvSpPr>
          <p:nvPr>
            <p:ph type="sldNum" sz="quarter" idx="5"/>
          </p:nvPr>
        </p:nvSpPr>
        <p:spPr/>
        <p:txBody>
          <a:bodyPr/>
          <a:lstStyle/>
          <a:p>
            <a:fld id="{F02832DB-1B45-491E-9D99-29703DB9934C}" type="slidenum">
              <a:rPr lang="en-IN" smtClean="0"/>
              <a:t>7</a:t>
            </a:fld>
            <a:endParaRPr lang="en-IN"/>
          </a:p>
        </p:txBody>
      </p:sp>
    </p:spTree>
    <p:extLst>
      <p:ext uri="{BB962C8B-B14F-4D97-AF65-F5344CB8AC3E}">
        <p14:creationId xmlns:p14="http://schemas.microsoft.com/office/powerpoint/2010/main" val="34192692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485A4-184F-50C1-54D7-A1BA49822D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57F19A-D4F8-9FD4-F203-924E3F1BFC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CF326B-A380-6C3A-9C01-5E6DBCAFA5E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FE1A280-486E-A8B2-A0D5-D063AA188455}"/>
              </a:ext>
            </a:extLst>
          </p:cNvPr>
          <p:cNvSpPr>
            <a:spLocks noGrp="1"/>
          </p:cNvSpPr>
          <p:nvPr>
            <p:ph type="sldNum" sz="quarter" idx="5"/>
          </p:nvPr>
        </p:nvSpPr>
        <p:spPr/>
        <p:txBody>
          <a:bodyPr/>
          <a:lstStyle/>
          <a:p>
            <a:fld id="{F02832DB-1B45-491E-9D99-29703DB9934C}" type="slidenum">
              <a:rPr lang="en-IN" smtClean="0"/>
              <a:t>8</a:t>
            </a:fld>
            <a:endParaRPr lang="en-IN"/>
          </a:p>
        </p:txBody>
      </p:sp>
    </p:spTree>
    <p:extLst>
      <p:ext uri="{BB962C8B-B14F-4D97-AF65-F5344CB8AC3E}">
        <p14:creationId xmlns:p14="http://schemas.microsoft.com/office/powerpoint/2010/main" val="38066656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EF1C9-3313-8390-7BBB-A7776FE68A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C4B975-B713-8F1C-97DC-FE61A80FD3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597D6-E2BE-1503-A1FC-8753C3CFD8B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C6278EC-331E-158B-2DE3-F6B7A267B2C7}"/>
              </a:ext>
            </a:extLst>
          </p:cNvPr>
          <p:cNvSpPr>
            <a:spLocks noGrp="1"/>
          </p:cNvSpPr>
          <p:nvPr>
            <p:ph type="sldNum" sz="quarter" idx="5"/>
          </p:nvPr>
        </p:nvSpPr>
        <p:spPr/>
        <p:txBody>
          <a:bodyPr/>
          <a:lstStyle/>
          <a:p>
            <a:fld id="{F02832DB-1B45-491E-9D99-29703DB9934C}" type="slidenum">
              <a:rPr lang="en-IN" smtClean="0"/>
              <a:t>9</a:t>
            </a:fld>
            <a:endParaRPr lang="en-IN"/>
          </a:p>
        </p:txBody>
      </p:sp>
    </p:spTree>
    <p:extLst>
      <p:ext uri="{BB962C8B-B14F-4D97-AF65-F5344CB8AC3E}">
        <p14:creationId xmlns:p14="http://schemas.microsoft.com/office/powerpoint/2010/main" val="13968608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6DFED-9D1D-47D8-A8CC-2B5537B15E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EC7868-5DF6-0BA7-4C23-AEAB67AFA4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449570-BBE8-47C9-F5D0-0D6D7B53AE5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2BB546D-4A94-3D14-AFFC-E7694A80445B}"/>
              </a:ext>
            </a:extLst>
          </p:cNvPr>
          <p:cNvSpPr>
            <a:spLocks noGrp="1"/>
          </p:cNvSpPr>
          <p:nvPr>
            <p:ph type="sldNum" sz="quarter" idx="5"/>
          </p:nvPr>
        </p:nvSpPr>
        <p:spPr/>
        <p:txBody>
          <a:bodyPr/>
          <a:lstStyle/>
          <a:p>
            <a:fld id="{F02832DB-1B45-491E-9D99-29703DB9934C}" type="slidenum">
              <a:rPr lang="en-IN" smtClean="0"/>
              <a:t>10</a:t>
            </a:fld>
            <a:endParaRPr lang="en-IN"/>
          </a:p>
        </p:txBody>
      </p:sp>
    </p:spTree>
    <p:extLst>
      <p:ext uri="{BB962C8B-B14F-4D97-AF65-F5344CB8AC3E}">
        <p14:creationId xmlns:p14="http://schemas.microsoft.com/office/powerpoint/2010/main" val="23585178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0CA81-B67D-C975-F3FB-BB591903DD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BB1FF1-4D0A-588D-4EA5-EA232683B6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214E75-76B3-8E79-A38F-DEC5C1AE9F1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F06A27B-A16E-43CD-29A3-8EC1C8598E98}"/>
              </a:ext>
            </a:extLst>
          </p:cNvPr>
          <p:cNvSpPr>
            <a:spLocks noGrp="1"/>
          </p:cNvSpPr>
          <p:nvPr>
            <p:ph type="sldNum" sz="quarter" idx="5"/>
          </p:nvPr>
        </p:nvSpPr>
        <p:spPr/>
        <p:txBody>
          <a:bodyPr/>
          <a:lstStyle/>
          <a:p>
            <a:fld id="{F02832DB-1B45-491E-9D99-29703DB9934C}" type="slidenum">
              <a:rPr lang="en-IN" smtClean="0"/>
              <a:t>11</a:t>
            </a:fld>
            <a:endParaRPr lang="en-IN"/>
          </a:p>
        </p:txBody>
      </p:sp>
    </p:spTree>
    <p:extLst>
      <p:ext uri="{BB962C8B-B14F-4D97-AF65-F5344CB8AC3E}">
        <p14:creationId xmlns:p14="http://schemas.microsoft.com/office/powerpoint/2010/main" val="30050759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7/27/2025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7/27/2025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7/27/2025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7/27/2025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7/27/2025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7/27/2025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7/27/2025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7/27/2025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5.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B1BA2-2B4C-4C2E-10E2-FA03E4130F9A}"/>
              </a:ext>
            </a:extLst>
          </p:cNvPr>
          <p:cNvSpPr>
            <a:spLocks noGrp="1"/>
          </p:cNvSpPr>
          <p:nvPr>
            <p:ph type="ctrTitle"/>
          </p:nvPr>
        </p:nvSpPr>
        <p:spPr>
          <a:xfrm>
            <a:off x="1524000" y="2102802"/>
            <a:ext cx="9144000" cy="2387600"/>
          </a:xfrm>
        </p:spPr>
        <p:txBody>
          <a:bodyPr>
            <a:normAutofit fontScale="90000"/>
          </a:bodyPr>
          <a:lstStyle/>
          <a:p>
            <a:r>
              <a:rPr lang="en-IN" sz="8000"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rPr>
              <a:t>TEEN-AGE </a:t>
            </a:r>
            <a:br>
              <a:rPr lang="en-IN" sz="8000"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rPr>
            </a:br>
            <a:r>
              <a:rPr lang="en-IN" sz="8000"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rPr>
              <a:t>PHONE ADDICTION</a:t>
            </a:r>
          </a:p>
        </p:txBody>
      </p:sp>
      <p:sp>
        <p:nvSpPr>
          <p:cNvPr id="6" name="Frame 5">
            <a:extLst>
              <a:ext uri="{FF2B5EF4-FFF2-40B4-BE49-F238E27FC236}">
                <a16:creationId xmlns:a16="http://schemas.microsoft.com/office/drawing/2014/main" id="{CE23EF08-0417-90DA-2FBD-3B377F0938AE}"/>
              </a:ext>
            </a:extLst>
          </p:cNvPr>
          <p:cNvSpPr/>
          <p:nvPr/>
        </p:nvSpPr>
        <p:spPr>
          <a:xfrm rot="19193195">
            <a:off x="10645140" y="-1549344"/>
            <a:ext cx="3393440" cy="3410691"/>
          </a:xfrm>
          <a:prstGeom prst="fram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effectLst>
                <a:outerShdw blurRad="38100" dist="19050" dir="2700000" algn="tl" rotWithShape="0">
                  <a:schemeClr val="dk1">
                    <a:alpha val="40000"/>
                  </a:schemeClr>
                </a:outerShdw>
              </a:effectLst>
            </a:endParaRPr>
          </a:p>
        </p:txBody>
      </p:sp>
      <p:sp>
        <p:nvSpPr>
          <p:cNvPr id="7" name="Frame 6">
            <a:extLst>
              <a:ext uri="{FF2B5EF4-FFF2-40B4-BE49-F238E27FC236}">
                <a16:creationId xmlns:a16="http://schemas.microsoft.com/office/drawing/2014/main" id="{2AFEC745-7751-CCAE-4C4D-0C22C116BA9C}"/>
              </a:ext>
            </a:extLst>
          </p:cNvPr>
          <p:cNvSpPr/>
          <p:nvPr/>
        </p:nvSpPr>
        <p:spPr>
          <a:xfrm rot="18515136">
            <a:off x="-1530774" y="5419354"/>
            <a:ext cx="3420533" cy="3364971"/>
          </a:xfrm>
          <a:prstGeom prst="fram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752187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639D7-5E2F-CBB8-CA68-35724B6712D7}"/>
            </a:ext>
          </a:extLst>
        </p:cNvPr>
        <p:cNvGrpSpPr/>
        <p:nvPr/>
      </p:nvGrpSpPr>
      <p:grpSpPr>
        <a:xfrm>
          <a:off x="0" y="0"/>
          <a:ext cx="0" cy="0"/>
          <a:chOff x="0" y="0"/>
          <a:chExt cx="0" cy="0"/>
        </a:xfrm>
      </p:grpSpPr>
      <p:sp>
        <p:nvSpPr>
          <p:cNvPr id="5" name="Frame 4">
            <a:extLst>
              <a:ext uri="{FF2B5EF4-FFF2-40B4-BE49-F238E27FC236}">
                <a16:creationId xmlns:a16="http://schemas.microsoft.com/office/drawing/2014/main" id="{69C29BE0-7610-8F57-3C07-43EC20C4EB4F}"/>
              </a:ext>
            </a:extLst>
          </p:cNvPr>
          <p:cNvSpPr/>
          <p:nvPr/>
        </p:nvSpPr>
        <p:spPr>
          <a:xfrm rot="18917285">
            <a:off x="-3013286" y="2992442"/>
            <a:ext cx="6026573" cy="8458200"/>
          </a:xfrm>
          <a:prstGeom prst="fram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effectLst>
                <a:outerShdw blurRad="38100" dist="19050" dir="2700000" algn="tl" rotWithShape="0">
                  <a:schemeClr val="dk1">
                    <a:alpha val="40000"/>
                  </a:schemeClr>
                </a:outerShdw>
              </a:effectLst>
            </a:endParaRPr>
          </a:p>
        </p:txBody>
      </p:sp>
      <p:sp>
        <p:nvSpPr>
          <p:cNvPr id="4" name="Title 3">
            <a:extLst>
              <a:ext uri="{FF2B5EF4-FFF2-40B4-BE49-F238E27FC236}">
                <a16:creationId xmlns:a16="http://schemas.microsoft.com/office/drawing/2014/main" id="{191CFA1C-9319-5E30-B9E6-1E219EF2476F}"/>
              </a:ext>
            </a:extLst>
          </p:cNvPr>
          <p:cNvSpPr>
            <a:spLocks noGrp="1"/>
          </p:cNvSpPr>
          <p:nvPr>
            <p:ph type="ctrTitle"/>
          </p:nvPr>
        </p:nvSpPr>
        <p:spPr>
          <a:xfrm>
            <a:off x="2305098" y="243068"/>
            <a:ext cx="9144000" cy="1413235"/>
          </a:xfrm>
        </p:spPr>
        <p:txBody>
          <a:bodyPr>
            <a:normAutofit/>
          </a:bodyPr>
          <a:lstStyle/>
          <a:p>
            <a:r>
              <a:rPr lang="en-IN" sz="6600"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rPr>
              <a:t>Introduction</a:t>
            </a:r>
          </a:p>
        </p:txBody>
      </p:sp>
      <p:sp>
        <p:nvSpPr>
          <p:cNvPr id="9" name="TextBox 8">
            <a:extLst>
              <a:ext uri="{FF2B5EF4-FFF2-40B4-BE49-F238E27FC236}">
                <a16:creationId xmlns:a16="http://schemas.microsoft.com/office/drawing/2014/main" id="{D2B75D56-51D4-BED0-5A4A-EFC7F79BE0FB}"/>
              </a:ext>
            </a:extLst>
          </p:cNvPr>
          <p:cNvSpPr txBox="1"/>
          <p:nvPr/>
        </p:nvSpPr>
        <p:spPr>
          <a:xfrm>
            <a:off x="2928395" y="1851950"/>
            <a:ext cx="8102279" cy="3539430"/>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Teenage phone addiction is the excessive and uncontrollable use of smartphones by teens, often leading to negative effects on their mental health, academics, sleep, and social life. Constant engagement with social media, games, and notifications can cause anxiety, poor focus, and reduced real-life interactions. Addressing this issue is important to promote healthier digital habits among teenagers.</a:t>
            </a:r>
            <a:endParaRPr lang="en-IN" sz="2800" dirty="0">
              <a:latin typeface="Times New Roman" panose="02020603050405020304" pitchFamily="18" charset="0"/>
              <a:cs typeface="Times New Roman" panose="02020603050405020304" pitchFamily="18" charset="0"/>
            </a:endParaRPr>
          </a:p>
        </p:txBody>
      </p:sp>
      <p:pic>
        <p:nvPicPr>
          <p:cNvPr id="1028" name="Picture 4" descr="Phone Addiction Chain Hold Smartphone Gadget Technology Problem Slavery ...">
            <a:extLst>
              <a:ext uri="{FF2B5EF4-FFF2-40B4-BE49-F238E27FC236}">
                <a16:creationId xmlns:a16="http://schemas.microsoft.com/office/drawing/2014/main" id="{2ECD5013-4A17-8361-A256-6E743345A3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902" y="243068"/>
            <a:ext cx="1921396" cy="189535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6650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FA49C-22B8-2582-19B7-FDA2792D6472}"/>
            </a:ext>
          </a:extLst>
        </p:cNvPr>
        <p:cNvGrpSpPr/>
        <p:nvPr/>
      </p:nvGrpSpPr>
      <p:grpSpPr>
        <a:xfrm>
          <a:off x="0" y="0"/>
          <a:ext cx="0" cy="0"/>
          <a:chOff x="0" y="0"/>
          <a:chExt cx="0" cy="0"/>
        </a:xfrm>
      </p:grpSpPr>
      <p:sp>
        <p:nvSpPr>
          <p:cNvPr id="5" name="Frame 4">
            <a:extLst>
              <a:ext uri="{FF2B5EF4-FFF2-40B4-BE49-F238E27FC236}">
                <a16:creationId xmlns:a16="http://schemas.microsoft.com/office/drawing/2014/main" id="{DA950CCC-BF30-2FF0-1321-8903D2B2C9DD}"/>
              </a:ext>
            </a:extLst>
          </p:cNvPr>
          <p:cNvSpPr/>
          <p:nvPr/>
        </p:nvSpPr>
        <p:spPr>
          <a:xfrm rot="18917285">
            <a:off x="-3013286" y="2992442"/>
            <a:ext cx="6026573" cy="8458200"/>
          </a:xfrm>
          <a:prstGeom prst="fram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ln w="0"/>
              <a:solidFill>
                <a:schemeClr val="tx1"/>
              </a:solidFill>
              <a:effectLst>
                <a:outerShdw blurRad="38100" dist="19050" dir="2700000" algn="tl" rotWithShape="0">
                  <a:schemeClr val="dk1">
                    <a:alpha val="40000"/>
                  </a:schemeClr>
                </a:outerShdw>
              </a:effectLst>
            </a:endParaRPr>
          </a:p>
        </p:txBody>
      </p:sp>
      <p:sp>
        <p:nvSpPr>
          <p:cNvPr id="4" name="Title 3">
            <a:extLst>
              <a:ext uri="{FF2B5EF4-FFF2-40B4-BE49-F238E27FC236}">
                <a16:creationId xmlns:a16="http://schemas.microsoft.com/office/drawing/2014/main" id="{6F9B3C2B-481F-2E3D-D2B6-E54EC16DB960}"/>
              </a:ext>
            </a:extLst>
          </p:cNvPr>
          <p:cNvSpPr>
            <a:spLocks noGrp="1"/>
          </p:cNvSpPr>
          <p:nvPr>
            <p:ph type="ctrTitle"/>
          </p:nvPr>
        </p:nvSpPr>
        <p:spPr>
          <a:xfrm>
            <a:off x="2664298" y="243068"/>
            <a:ext cx="9144000" cy="1413235"/>
          </a:xfrm>
        </p:spPr>
        <p:txBody>
          <a:bodyPr>
            <a:normAutofit/>
          </a:bodyPr>
          <a:lstStyle/>
          <a:p>
            <a:r>
              <a:rPr lang="en-IN" sz="6600"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rPr>
              <a:t>Objective </a:t>
            </a:r>
          </a:p>
        </p:txBody>
      </p:sp>
      <p:pic>
        <p:nvPicPr>
          <p:cNvPr id="1028" name="Picture 4" descr="Phone Addiction Chain Hold Smartphone Gadget Technology Problem Slavery ...">
            <a:extLst>
              <a:ext uri="{FF2B5EF4-FFF2-40B4-BE49-F238E27FC236}">
                <a16:creationId xmlns:a16="http://schemas.microsoft.com/office/drawing/2014/main" id="{8B430E20-BEEB-915E-C92F-995FAA8C2F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902" y="243068"/>
            <a:ext cx="1921396" cy="189535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77F4C02-149D-F70A-C53C-883CE1A7DF3F}"/>
              </a:ext>
            </a:extLst>
          </p:cNvPr>
          <p:cNvSpPr txBox="1"/>
          <p:nvPr/>
        </p:nvSpPr>
        <p:spPr>
          <a:xfrm>
            <a:off x="3483980" y="2258189"/>
            <a:ext cx="7940233" cy="3908762"/>
          </a:xfrm>
          <a:prstGeom prst="rect">
            <a:avLst/>
          </a:prstGeom>
          <a:noFill/>
        </p:spPr>
        <p:txBody>
          <a:bodyPr wrap="square" rtlCol="0">
            <a:spAutoFit/>
          </a:bodyPr>
          <a:lstStyle/>
          <a:p>
            <a:pPr marL="342900" lvl="0" indent="-342900" algn="just" defTabSz="914400"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To understand the causes behind excessive smartphone use among  teenagers.</a:t>
            </a:r>
          </a:p>
          <a:p>
            <a:pPr marL="342900" lvl="0" indent="-342900" algn="just" defTabSz="914400"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To analyze the psychological and physical impacts of phone addiction.</a:t>
            </a:r>
          </a:p>
          <a:p>
            <a:pPr marL="342900" lvl="0" indent="-342900" algn="just" defTabSz="914400"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To identify the signs and symptoms of smartphone dependency in teens.</a:t>
            </a:r>
          </a:p>
          <a:p>
            <a:pPr marL="342900" lvl="0" indent="-342900" algn="just" defTabSz="914400"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To explore the influence of social media and gaming on teenage behavior.</a:t>
            </a:r>
          </a:p>
          <a:p>
            <a:pPr marL="342900" lvl="0" indent="-342900" algn="just" defTabSz="914400"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To assess how phone addiction affects academic performance and sleep patterns.</a:t>
            </a:r>
          </a:p>
          <a:p>
            <a:pPr marL="342900" lvl="0" indent="-342900" algn="just" defTabSz="914400"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To suggest preventive measures and strategies for healthy phone usage.</a:t>
            </a:r>
          </a:p>
          <a:p>
            <a:pPr marL="342900" lvl="0" indent="-342900" algn="just" defTabSz="914400"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To raise awareness among parents, teachers, and teens about digital balance.</a:t>
            </a:r>
          </a:p>
          <a:p>
            <a:pPr algn="just"/>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31525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036DA-53ED-9100-5648-D7B6CBCCC13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104CE6D-6119-A9FE-55DD-B859A67386F0}"/>
              </a:ext>
            </a:extLst>
          </p:cNvPr>
          <p:cNvSpPr>
            <a:spLocks noGrp="1"/>
          </p:cNvSpPr>
          <p:nvPr>
            <p:ph type="ctrTitle"/>
          </p:nvPr>
        </p:nvSpPr>
        <p:spPr>
          <a:xfrm>
            <a:off x="1524000" y="-131400"/>
            <a:ext cx="9144000" cy="1413235"/>
          </a:xfrm>
        </p:spPr>
        <p:txBody>
          <a:bodyPr>
            <a:normAutofit/>
          </a:bodyPr>
          <a:lstStyle/>
          <a:p>
            <a:r>
              <a:rPr lang="en-IN" sz="6600"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rPr>
              <a:t>Dashboard</a:t>
            </a:r>
          </a:p>
        </p:txBody>
      </p:sp>
      <p:pic>
        <p:nvPicPr>
          <p:cNvPr id="9" name="Picture 8">
            <a:extLst>
              <a:ext uri="{FF2B5EF4-FFF2-40B4-BE49-F238E27FC236}">
                <a16:creationId xmlns:a16="http://schemas.microsoft.com/office/drawing/2014/main" id="{54296EAA-91D4-FA13-7B3D-ED1C86439C26}"/>
              </a:ext>
            </a:extLst>
          </p:cNvPr>
          <p:cNvPicPr>
            <a:picLocks noChangeAspect="1"/>
          </p:cNvPicPr>
          <p:nvPr/>
        </p:nvPicPr>
        <p:blipFill>
          <a:blip r:embed="rId2"/>
          <a:stretch>
            <a:fillRect/>
          </a:stretch>
        </p:blipFill>
        <p:spPr>
          <a:xfrm>
            <a:off x="264935" y="1281835"/>
            <a:ext cx="11613798" cy="5381432"/>
          </a:xfrm>
          <a:prstGeom prst="rect">
            <a:avLst/>
          </a:prstGeom>
        </p:spPr>
      </p:pic>
    </p:spTree>
    <p:extLst>
      <p:ext uri="{BB962C8B-B14F-4D97-AF65-F5344CB8AC3E}">
        <p14:creationId xmlns:p14="http://schemas.microsoft.com/office/powerpoint/2010/main" val="34971653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79D67-57E7-1DF4-C6F5-0EAF700617A7}"/>
            </a:ext>
          </a:extLst>
        </p:cNvPr>
        <p:cNvGrpSpPr/>
        <p:nvPr/>
      </p:nvGrpSpPr>
      <p:grpSpPr>
        <a:xfrm>
          <a:off x="0" y="0"/>
          <a:ext cx="0" cy="0"/>
          <a:chOff x="0" y="0"/>
          <a:chExt cx="0" cy="0"/>
        </a:xfrm>
      </p:grpSpPr>
      <p:sp>
        <p:nvSpPr>
          <p:cNvPr id="5" name="Frame 4">
            <a:extLst>
              <a:ext uri="{FF2B5EF4-FFF2-40B4-BE49-F238E27FC236}">
                <a16:creationId xmlns:a16="http://schemas.microsoft.com/office/drawing/2014/main" id="{963A400F-DF52-F3D4-E1CC-63D3CE61C892}"/>
              </a:ext>
            </a:extLst>
          </p:cNvPr>
          <p:cNvSpPr/>
          <p:nvPr/>
        </p:nvSpPr>
        <p:spPr>
          <a:xfrm rot="18917285">
            <a:off x="-2919944" y="3181118"/>
            <a:ext cx="6026573" cy="8458200"/>
          </a:xfrm>
          <a:prstGeom prst="fram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ln w="0"/>
              <a:solidFill>
                <a:schemeClr val="tx1"/>
              </a:solidFill>
              <a:effectLst>
                <a:outerShdw blurRad="38100" dist="19050" dir="2700000" algn="tl" rotWithShape="0">
                  <a:schemeClr val="dk1">
                    <a:alpha val="40000"/>
                  </a:schemeClr>
                </a:outerShdw>
              </a:effectLst>
            </a:endParaRPr>
          </a:p>
        </p:txBody>
      </p:sp>
      <p:sp>
        <p:nvSpPr>
          <p:cNvPr id="4" name="Title 3">
            <a:extLst>
              <a:ext uri="{FF2B5EF4-FFF2-40B4-BE49-F238E27FC236}">
                <a16:creationId xmlns:a16="http://schemas.microsoft.com/office/drawing/2014/main" id="{C0A2A8B6-737C-719F-3510-2610B22F6262}"/>
              </a:ext>
            </a:extLst>
          </p:cNvPr>
          <p:cNvSpPr>
            <a:spLocks noGrp="1"/>
          </p:cNvSpPr>
          <p:nvPr>
            <p:ph type="ctrTitle"/>
          </p:nvPr>
        </p:nvSpPr>
        <p:spPr>
          <a:xfrm>
            <a:off x="3220791" y="69316"/>
            <a:ext cx="9144000" cy="1413235"/>
          </a:xfrm>
        </p:spPr>
        <p:txBody>
          <a:bodyPr>
            <a:normAutofit/>
          </a:bodyPr>
          <a:lstStyle/>
          <a:p>
            <a:r>
              <a:rPr lang="en-IN" sz="6600"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rPr>
              <a:t>Problem Statement</a:t>
            </a:r>
          </a:p>
        </p:txBody>
      </p:sp>
      <p:pic>
        <p:nvPicPr>
          <p:cNvPr id="1028" name="Picture 4" descr="Phone Addiction Chain Hold Smartphone Gadget Technology Problem Slavery ...">
            <a:extLst>
              <a:ext uri="{FF2B5EF4-FFF2-40B4-BE49-F238E27FC236}">
                <a16:creationId xmlns:a16="http://schemas.microsoft.com/office/drawing/2014/main" id="{A6AAAE06-6F9D-D20F-4820-2A6D1CF197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437" y="95801"/>
            <a:ext cx="1921396" cy="189535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3301798-9DA0-0FB0-63D2-E64BEA0241B2}"/>
              </a:ext>
            </a:extLst>
          </p:cNvPr>
          <p:cNvSpPr txBox="1"/>
          <p:nvPr/>
        </p:nvSpPr>
        <p:spPr>
          <a:xfrm>
            <a:off x="3707756" y="1553586"/>
            <a:ext cx="7951807" cy="5016758"/>
          </a:xfrm>
          <a:prstGeom prst="rect">
            <a:avLst/>
          </a:prstGeom>
          <a:noFill/>
        </p:spPr>
        <p:txBody>
          <a:bodyPr wrap="square" rtlCol="0">
            <a:spAutoFit/>
          </a:bodyPr>
          <a:lstStyle/>
          <a:p>
            <a:pPr marL="285750" lvl="0" indent="-285750" defTabSz="914400" eaLnBrk="0" fontAlgn="base" hangingPunct="0">
              <a:spcBef>
                <a:spcPct val="0"/>
              </a:spcBef>
              <a:spcAft>
                <a:spcPct val="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Analyze how digital activity (social media, education, gaming, and app usage) varies across school grades to identify its impact on students focus and well-being.</a:t>
            </a:r>
          </a:p>
          <a:p>
            <a:pPr marL="285750" lvl="0" indent="-285750" defTabSz="914400" eaLnBrk="0" fontAlgn="base" hangingPunct="0">
              <a:spcBef>
                <a:spcPct val="0"/>
              </a:spcBef>
              <a:spcAft>
                <a:spcPct val="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Analyze the relationship between daily screen usage and pre-bed screen time across different age groups to understand its potential impact on health and sleep quality.</a:t>
            </a:r>
          </a:p>
          <a:p>
            <a:pPr marL="285750" lvl="0" indent="-285750" defTabSz="914400" eaLnBrk="0" fontAlgn="base" hangingPunct="0">
              <a:spcBef>
                <a:spcPct val="0"/>
              </a:spcBef>
              <a:spcAft>
                <a:spcPct val="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Analyze how addiction, anxiety, and depression levels vary across different age groups to understand the mental health impact of digital usage.</a:t>
            </a:r>
          </a:p>
          <a:p>
            <a:pPr marL="285750" lvl="0" indent="-285750" defTabSz="914400" eaLnBrk="0" fontAlgn="base" hangingPunct="0">
              <a:spcBef>
                <a:spcPct val="0"/>
              </a:spcBef>
              <a:spcAft>
                <a:spcPct val="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analyze the distribution of family communication practices across different gender identities in order to understand the gender-wise involvement in family-related interactions</a:t>
            </a:r>
          </a:p>
          <a:p>
            <a:pPr marL="285750" lvl="0" indent="-285750" defTabSz="914400" eaLnBrk="0" fontAlgn="base" hangingPunct="0">
              <a:spcBef>
                <a:spcPct val="0"/>
              </a:spcBef>
              <a:spcAft>
                <a:spcPct val="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examine the average number of phone checks per day across different school grades to identify patterns in mobile usage behavior among students from 7th to 12th grade.</a:t>
            </a:r>
          </a:p>
          <a:p>
            <a:pPr marL="285750" lvl="0" indent="-285750" defTabSz="914400" eaLnBrk="0" fontAlgn="base" hangingPunct="0">
              <a:spcBef>
                <a:spcPct val="0"/>
              </a:spcBef>
              <a:spcAft>
                <a:spcPct val="0"/>
              </a:spcAft>
              <a:buFont typeface="Arial" panose="020B0604020202020204" pitchFamily="34" charset="0"/>
              <a:buChar char="•"/>
            </a:pPr>
            <a:endParaRPr lang="en-US" sz="2000" dirty="0"/>
          </a:p>
        </p:txBody>
      </p:sp>
    </p:spTree>
    <p:extLst>
      <p:ext uri="{BB962C8B-B14F-4D97-AF65-F5344CB8AC3E}">
        <p14:creationId xmlns:p14="http://schemas.microsoft.com/office/powerpoint/2010/main" val="16292418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42164-7052-C921-1114-A6D74587A09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39A042B-5516-94F5-D7AE-AFDE0C117C5E}"/>
              </a:ext>
            </a:extLst>
          </p:cNvPr>
          <p:cNvSpPr>
            <a:spLocks noGrp="1"/>
          </p:cNvSpPr>
          <p:nvPr>
            <p:ph type="ctrTitle"/>
          </p:nvPr>
        </p:nvSpPr>
        <p:spPr>
          <a:xfrm>
            <a:off x="1030147" y="-300969"/>
            <a:ext cx="9144000" cy="1413235"/>
          </a:xfrm>
        </p:spPr>
        <p:txBody>
          <a:bodyPr>
            <a:normAutofit/>
          </a:bodyPr>
          <a:lstStyle/>
          <a:p>
            <a:r>
              <a:rPr lang="en-IN" sz="6600"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rPr>
              <a:t>Result</a:t>
            </a:r>
          </a:p>
        </p:txBody>
      </p:sp>
      <p:pic>
        <p:nvPicPr>
          <p:cNvPr id="1028" name="Picture 4" descr="Phone Addiction Chain Hold Smartphone Gadget Technology Problem Slavery ...">
            <a:extLst>
              <a:ext uri="{FF2B5EF4-FFF2-40B4-BE49-F238E27FC236}">
                <a16:creationId xmlns:a16="http://schemas.microsoft.com/office/drawing/2014/main" id="{D0915F50-1277-AC0B-7195-3D71FE8504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8591" y="99320"/>
            <a:ext cx="1199146" cy="112303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graphicFrame>
        <p:nvGraphicFramePr>
          <p:cNvPr id="3" name="Chart 2">
            <a:extLst>
              <a:ext uri="{FF2B5EF4-FFF2-40B4-BE49-F238E27FC236}">
                <a16:creationId xmlns:a16="http://schemas.microsoft.com/office/drawing/2014/main" id="{3BFFA542-9818-4D30-851C-D3F2927C8774}"/>
              </a:ext>
            </a:extLst>
          </p:cNvPr>
          <p:cNvGraphicFramePr>
            <a:graphicFrameLocks/>
          </p:cNvGraphicFramePr>
          <p:nvPr>
            <p:extLst>
              <p:ext uri="{D42A27DB-BD31-4B8C-83A1-F6EECF244321}">
                <p14:modId xmlns:p14="http://schemas.microsoft.com/office/powerpoint/2010/main" val="2370861442"/>
              </p:ext>
            </p:extLst>
          </p:nvPr>
        </p:nvGraphicFramePr>
        <p:xfrm>
          <a:off x="1747129" y="1182013"/>
          <a:ext cx="7947204" cy="2816511"/>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Box 7">
            <a:extLst>
              <a:ext uri="{FF2B5EF4-FFF2-40B4-BE49-F238E27FC236}">
                <a16:creationId xmlns:a16="http://schemas.microsoft.com/office/drawing/2014/main" id="{23FD828B-64F4-1D37-B8D8-54FACEA0C75D}"/>
              </a:ext>
            </a:extLst>
          </p:cNvPr>
          <p:cNvSpPr txBox="1"/>
          <p:nvPr/>
        </p:nvSpPr>
        <p:spPr>
          <a:xfrm>
            <a:off x="2387677" y="4220696"/>
            <a:ext cx="6112724" cy="2308324"/>
          </a:xfrm>
          <a:prstGeom prst="rect">
            <a:avLst/>
          </a:prstGeom>
          <a:noFill/>
        </p:spPr>
        <p:txBody>
          <a:bodyPr wrap="square" rtlCol="0">
            <a:spAutoFit/>
          </a:bodyPr>
          <a:lstStyle/>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Students use about </a:t>
            </a:r>
            <a:r>
              <a:rPr lang="en-US" altLang="en-US" b="1" dirty="0">
                <a:latin typeface="Arial" panose="020B0604020202020204" pitchFamily="34" charset="0"/>
              </a:rPr>
              <a:t>14 apps daily</a:t>
            </a:r>
            <a:r>
              <a:rPr lang="en-US" altLang="en-US" dirty="0">
                <a:latin typeface="Arial" panose="020B0604020202020204" pitchFamily="34" charset="0"/>
              </a:rPr>
              <a:t> across all grades.</a:t>
            </a:r>
          </a:p>
          <a:p>
            <a:pPr marL="285750" lvl="0" indent="-285750" defTabSz="914400" eaLnBrk="0" fontAlgn="base" hangingPunct="0">
              <a:spcBef>
                <a:spcPct val="0"/>
              </a:spcBef>
              <a:spcAft>
                <a:spcPct val="0"/>
              </a:spcAft>
              <a:buFont typeface="Arial" panose="020B0604020202020204" pitchFamily="34" charset="0"/>
              <a:buChar char="•"/>
            </a:pPr>
            <a:r>
              <a:rPr lang="en-US" altLang="en-US" b="1" dirty="0">
                <a:latin typeface="Arial" panose="020B0604020202020204" pitchFamily="34" charset="0"/>
              </a:rPr>
              <a:t>Social media usage</a:t>
            </a:r>
            <a:r>
              <a:rPr lang="en-US" altLang="en-US" dirty="0">
                <a:latin typeface="Arial" panose="020B0604020202020204" pitchFamily="34" charset="0"/>
              </a:rPr>
              <a:t> is around </a:t>
            </a:r>
            <a:r>
              <a:rPr lang="en-US" altLang="en-US" b="1" dirty="0">
                <a:latin typeface="Arial" panose="020B0604020202020204" pitchFamily="34" charset="0"/>
              </a:rPr>
              <a:t>3–4 hours</a:t>
            </a:r>
            <a:r>
              <a:rPr lang="en-US" altLang="en-US" dirty="0">
                <a:latin typeface="Arial" panose="020B0604020202020204" pitchFamily="34" charset="0"/>
              </a:rPr>
              <a:t> per day.</a:t>
            </a:r>
          </a:p>
          <a:p>
            <a:pPr marL="285750" lvl="0" indent="-285750" defTabSz="914400" eaLnBrk="0" fontAlgn="base" hangingPunct="0">
              <a:spcBef>
                <a:spcPct val="0"/>
              </a:spcBef>
              <a:spcAft>
                <a:spcPct val="0"/>
              </a:spcAft>
              <a:buFont typeface="Arial" panose="020B0604020202020204" pitchFamily="34" charset="0"/>
              <a:buChar char="•"/>
            </a:pPr>
            <a:r>
              <a:rPr lang="en-US" altLang="en-US" b="1" dirty="0">
                <a:latin typeface="Arial" panose="020B0604020202020204" pitchFamily="34" charset="0"/>
              </a:rPr>
              <a:t>Educational use</a:t>
            </a:r>
            <a:r>
              <a:rPr lang="en-US" altLang="en-US" dirty="0">
                <a:latin typeface="Arial" panose="020B0604020202020204" pitchFamily="34" charset="0"/>
              </a:rPr>
              <a:t> is the </a:t>
            </a:r>
            <a:r>
              <a:rPr lang="en-US" altLang="en-US" b="1" dirty="0">
                <a:latin typeface="Arial" panose="020B0604020202020204" pitchFamily="34" charset="0"/>
              </a:rPr>
              <a:t>lowest</a:t>
            </a:r>
            <a:r>
              <a:rPr lang="en-US" altLang="en-US" dirty="0">
                <a:latin typeface="Arial" panose="020B0604020202020204" pitchFamily="34" charset="0"/>
              </a:rPr>
              <a:t> among digital activities.</a:t>
            </a:r>
          </a:p>
          <a:p>
            <a:pPr marL="285750" lvl="0" indent="-285750" defTabSz="914400" eaLnBrk="0" fontAlgn="base" hangingPunct="0">
              <a:spcBef>
                <a:spcPct val="0"/>
              </a:spcBef>
              <a:spcAft>
                <a:spcPct val="0"/>
              </a:spcAft>
              <a:buFont typeface="Arial" panose="020B0604020202020204" pitchFamily="34" charset="0"/>
              <a:buChar char="•"/>
            </a:pPr>
            <a:r>
              <a:rPr lang="en-US" altLang="en-US" b="1" dirty="0">
                <a:latin typeface="Arial" panose="020B0604020202020204" pitchFamily="34" charset="0"/>
              </a:rPr>
              <a:t>Gaming time</a:t>
            </a:r>
            <a:r>
              <a:rPr lang="en-US" altLang="en-US" dirty="0">
                <a:latin typeface="Arial" panose="020B0604020202020204" pitchFamily="34" charset="0"/>
              </a:rPr>
              <a:t> is </a:t>
            </a:r>
            <a:r>
              <a:rPr lang="en-US" altLang="en-US" b="1" dirty="0">
                <a:latin typeface="Arial" panose="020B0604020202020204" pitchFamily="34" charset="0"/>
              </a:rPr>
              <a:t>1–2 hours</a:t>
            </a:r>
            <a:r>
              <a:rPr lang="en-US" altLang="en-US" dirty="0">
                <a:latin typeface="Arial" panose="020B0604020202020204" pitchFamily="34" charset="0"/>
              </a:rPr>
              <a:t> daily.</a:t>
            </a: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Digital activity is </a:t>
            </a:r>
            <a:r>
              <a:rPr lang="en-US" altLang="en-US" b="1" dirty="0">
                <a:latin typeface="Arial" panose="020B0604020202020204" pitchFamily="34" charset="0"/>
              </a:rPr>
              <a:t>similar across grades 7th to 12th</a:t>
            </a:r>
            <a:r>
              <a:rPr lang="en-US" altLang="en-US" dirty="0">
                <a:latin typeface="Arial" panose="020B0604020202020204" pitchFamily="34" charset="0"/>
              </a:rPr>
              <a:t>.</a:t>
            </a: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Data shows signs of </a:t>
            </a:r>
            <a:r>
              <a:rPr lang="en-US" altLang="en-US" b="1" dirty="0">
                <a:latin typeface="Arial" panose="020B0604020202020204" pitchFamily="34" charset="0"/>
              </a:rPr>
              <a:t>possible phone overuse</a:t>
            </a:r>
            <a:r>
              <a:rPr lang="en-US" altLang="en-US" dirty="0">
                <a:latin typeface="Arial" panose="020B0604020202020204" pitchFamily="34" charset="0"/>
              </a:rPr>
              <a:t> among teens.</a:t>
            </a:r>
          </a:p>
          <a:p>
            <a:endParaRPr lang="en-IN" dirty="0"/>
          </a:p>
        </p:txBody>
      </p:sp>
      <p:sp>
        <p:nvSpPr>
          <p:cNvPr id="2" name="Frame 1">
            <a:extLst>
              <a:ext uri="{FF2B5EF4-FFF2-40B4-BE49-F238E27FC236}">
                <a16:creationId xmlns:a16="http://schemas.microsoft.com/office/drawing/2014/main" id="{92AF111B-1F73-D08E-78C3-EBB548121907}"/>
              </a:ext>
            </a:extLst>
          </p:cNvPr>
          <p:cNvSpPr/>
          <p:nvPr/>
        </p:nvSpPr>
        <p:spPr>
          <a:xfrm rot="18917285">
            <a:off x="-3265835" y="3288533"/>
            <a:ext cx="6026573" cy="8458200"/>
          </a:xfrm>
          <a:prstGeom prst="fram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928144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F3750-4CC1-ED13-76A0-37E0C4E1CF5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BA793C5-8FF9-E364-1A19-31EE792F79DB}"/>
              </a:ext>
            </a:extLst>
          </p:cNvPr>
          <p:cNvSpPr>
            <a:spLocks noGrp="1"/>
          </p:cNvSpPr>
          <p:nvPr>
            <p:ph type="ctrTitle"/>
          </p:nvPr>
        </p:nvSpPr>
        <p:spPr>
          <a:xfrm>
            <a:off x="1030147" y="-300969"/>
            <a:ext cx="9144000" cy="1413235"/>
          </a:xfrm>
        </p:spPr>
        <p:txBody>
          <a:bodyPr>
            <a:normAutofit/>
          </a:bodyPr>
          <a:lstStyle/>
          <a:p>
            <a:r>
              <a:rPr lang="en-IN" sz="6600"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rPr>
              <a:t>Result</a:t>
            </a:r>
          </a:p>
        </p:txBody>
      </p:sp>
      <p:pic>
        <p:nvPicPr>
          <p:cNvPr id="1028" name="Picture 4" descr="Phone Addiction Chain Hold Smartphone Gadget Technology Problem Slavery ...">
            <a:extLst>
              <a:ext uri="{FF2B5EF4-FFF2-40B4-BE49-F238E27FC236}">
                <a16:creationId xmlns:a16="http://schemas.microsoft.com/office/drawing/2014/main" id="{5A5C7AF3-CEB5-DA6C-63CB-CFF8CE458F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8591" y="99320"/>
            <a:ext cx="1199146" cy="112303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graphicFrame>
        <p:nvGraphicFramePr>
          <p:cNvPr id="6" name="Chart 5">
            <a:extLst>
              <a:ext uri="{FF2B5EF4-FFF2-40B4-BE49-F238E27FC236}">
                <a16:creationId xmlns:a16="http://schemas.microsoft.com/office/drawing/2014/main" id="{67A76162-174E-D1FD-98AB-E57C6538304D}"/>
              </a:ext>
            </a:extLst>
          </p:cNvPr>
          <p:cNvGraphicFramePr>
            <a:graphicFrameLocks/>
          </p:cNvGraphicFramePr>
          <p:nvPr>
            <p:extLst>
              <p:ext uri="{D42A27DB-BD31-4B8C-83A1-F6EECF244321}">
                <p14:modId xmlns:p14="http://schemas.microsoft.com/office/powerpoint/2010/main" val="3336996062"/>
              </p:ext>
            </p:extLst>
          </p:nvPr>
        </p:nvGraphicFramePr>
        <p:xfrm>
          <a:off x="2726268" y="1112266"/>
          <a:ext cx="6680200" cy="2816511"/>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a:extLst>
              <a:ext uri="{FF2B5EF4-FFF2-40B4-BE49-F238E27FC236}">
                <a16:creationId xmlns:a16="http://schemas.microsoft.com/office/drawing/2014/main" id="{56D6C174-8680-041C-5359-7FC0DAE3ED43}"/>
              </a:ext>
            </a:extLst>
          </p:cNvPr>
          <p:cNvSpPr txBox="1"/>
          <p:nvPr/>
        </p:nvSpPr>
        <p:spPr>
          <a:xfrm>
            <a:off x="3109086" y="4272677"/>
            <a:ext cx="5618871" cy="2585323"/>
          </a:xfrm>
          <a:prstGeom prst="rect">
            <a:avLst/>
          </a:prstGeom>
          <a:noFill/>
        </p:spPr>
        <p:txBody>
          <a:bodyPr wrap="square" rtlCol="0">
            <a:spAutoFit/>
          </a:bodyPr>
          <a:lstStyle/>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Teenagers spend around </a:t>
            </a:r>
            <a:r>
              <a:rPr lang="en-US" altLang="en-US" b="1" dirty="0">
                <a:latin typeface="Arial" panose="020B0604020202020204" pitchFamily="34" charset="0"/>
              </a:rPr>
              <a:t>5 hours daily</a:t>
            </a:r>
            <a:r>
              <a:rPr lang="en-US" altLang="en-US" dirty="0">
                <a:latin typeface="Arial" panose="020B0604020202020204" pitchFamily="34" charset="0"/>
              </a:rPr>
              <a:t> on screens across all age groups.</a:t>
            </a:r>
          </a:p>
          <a:p>
            <a:pPr marL="285750" lvl="0" indent="-285750" defTabSz="914400" eaLnBrk="0" fontAlgn="base" hangingPunct="0">
              <a:spcBef>
                <a:spcPct val="0"/>
              </a:spcBef>
              <a:spcAft>
                <a:spcPct val="0"/>
              </a:spcAft>
              <a:buFont typeface="Arial" panose="020B0604020202020204" pitchFamily="34" charset="0"/>
              <a:buChar char="•"/>
            </a:pPr>
            <a:r>
              <a:rPr lang="en-US" altLang="en-US" b="1" dirty="0">
                <a:latin typeface="Arial" panose="020B0604020202020204" pitchFamily="34" charset="0"/>
              </a:rPr>
              <a:t>Pre-bed screen time</a:t>
            </a:r>
            <a:r>
              <a:rPr lang="en-US" altLang="en-US" dirty="0">
                <a:latin typeface="Arial" panose="020B0604020202020204" pitchFamily="34" charset="0"/>
              </a:rPr>
              <a:t> averages </a:t>
            </a:r>
            <a:r>
              <a:rPr lang="en-US" altLang="en-US" b="1" dirty="0">
                <a:latin typeface="Arial" panose="020B0604020202020204" pitchFamily="34" charset="0"/>
              </a:rPr>
              <a:t>about 1 hour</a:t>
            </a:r>
            <a:r>
              <a:rPr lang="en-US" altLang="en-US" dirty="0">
                <a:latin typeface="Arial" panose="020B0604020202020204" pitchFamily="34" charset="0"/>
              </a:rPr>
              <a:t>, showing consistent usage at night.</a:t>
            </a:r>
          </a:p>
          <a:p>
            <a:pPr marL="285750" lvl="0" indent="-285750" defTabSz="914400" eaLnBrk="0" fontAlgn="base" hangingPunct="0">
              <a:spcBef>
                <a:spcPct val="0"/>
              </a:spcBef>
              <a:spcAft>
                <a:spcPct val="0"/>
              </a:spcAft>
              <a:buFont typeface="Arial" panose="020B0604020202020204" pitchFamily="34" charset="0"/>
              <a:buChar char="•"/>
            </a:pPr>
            <a:r>
              <a:rPr lang="en-US" altLang="en-US" b="1" dirty="0">
                <a:latin typeface="Arial" panose="020B0604020202020204" pitchFamily="34" charset="0"/>
              </a:rPr>
              <a:t>Age 19</a:t>
            </a:r>
            <a:r>
              <a:rPr lang="en-US" altLang="en-US" dirty="0">
                <a:latin typeface="Arial" panose="020B0604020202020204" pitchFamily="34" charset="0"/>
              </a:rPr>
              <a:t> has the </a:t>
            </a:r>
            <a:r>
              <a:rPr lang="en-US" altLang="en-US" b="1" dirty="0">
                <a:latin typeface="Arial" panose="020B0604020202020204" pitchFamily="34" charset="0"/>
              </a:rPr>
              <a:t>highest overall screen and bedtime usage</a:t>
            </a:r>
            <a:r>
              <a:rPr lang="en-US" altLang="en-US" dirty="0">
                <a:latin typeface="Arial" panose="020B0604020202020204" pitchFamily="34" charset="0"/>
              </a:rPr>
              <a:t>.</a:t>
            </a: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Slight </a:t>
            </a:r>
            <a:r>
              <a:rPr lang="en-US" altLang="en-US" b="1" dirty="0">
                <a:latin typeface="Arial" panose="020B0604020202020204" pitchFamily="34" charset="0"/>
              </a:rPr>
              <a:t>increase in screen time with age</a:t>
            </a:r>
            <a:r>
              <a:rPr lang="en-US" altLang="en-US" dirty="0">
                <a:latin typeface="Arial" panose="020B0604020202020204" pitchFamily="34" charset="0"/>
              </a:rPr>
              <a:t> indicates growing digital dependence.</a:t>
            </a:r>
          </a:p>
          <a:p>
            <a:endParaRPr lang="en-IN" dirty="0"/>
          </a:p>
        </p:txBody>
      </p:sp>
      <p:sp>
        <p:nvSpPr>
          <p:cNvPr id="2" name="Frame 1">
            <a:extLst>
              <a:ext uri="{FF2B5EF4-FFF2-40B4-BE49-F238E27FC236}">
                <a16:creationId xmlns:a16="http://schemas.microsoft.com/office/drawing/2014/main" id="{980C886C-2E0F-D33D-965F-8667D8EF2A8C}"/>
              </a:ext>
            </a:extLst>
          </p:cNvPr>
          <p:cNvSpPr/>
          <p:nvPr/>
        </p:nvSpPr>
        <p:spPr>
          <a:xfrm rot="18917285">
            <a:off x="-3100372" y="3021511"/>
            <a:ext cx="6026573" cy="8458200"/>
          </a:xfrm>
          <a:prstGeom prst="fram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312381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8A825-CAA3-56A3-9370-083A692DDEA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BF5BC89-0133-CEFE-B43A-FE8420D8234C}"/>
              </a:ext>
            </a:extLst>
          </p:cNvPr>
          <p:cNvSpPr>
            <a:spLocks noGrp="1"/>
          </p:cNvSpPr>
          <p:nvPr>
            <p:ph type="ctrTitle"/>
          </p:nvPr>
        </p:nvSpPr>
        <p:spPr>
          <a:xfrm>
            <a:off x="1030147" y="-300969"/>
            <a:ext cx="9144000" cy="1413235"/>
          </a:xfrm>
        </p:spPr>
        <p:txBody>
          <a:bodyPr>
            <a:normAutofit/>
          </a:bodyPr>
          <a:lstStyle/>
          <a:p>
            <a:r>
              <a:rPr lang="en-IN" sz="6600"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rPr>
              <a:t>Result</a:t>
            </a:r>
          </a:p>
        </p:txBody>
      </p:sp>
      <p:pic>
        <p:nvPicPr>
          <p:cNvPr id="1028" name="Picture 4" descr="Phone Addiction Chain Hold Smartphone Gadget Technology Problem Slavery ...">
            <a:extLst>
              <a:ext uri="{FF2B5EF4-FFF2-40B4-BE49-F238E27FC236}">
                <a16:creationId xmlns:a16="http://schemas.microsoft.com/office/drawing/2014/main" id="{A25211CC-09A2-203D-A198-27B6FC70A7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8591" y="99320"/>
            <a:ext cx="1199146" cy="112303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814F7CB7-AB0B-F958-4318-DE92A77656D4}"/>
              </a:ext>
            </a:extLst>
          </p:cNvPr>
          <p:cNvSpPr txBox="1"/>
          <p:nvPr/>
        </p:nvSpPr>
        <p:spPr>
          <a:xfrm>
            <a:off x="3014133" y="4233155"/>
            <a:ext cx="6468533" cy="2585323"/>
          </a:xfrm>
          <a:prstGeom prst="rect">
            <a:avLst/>
          </a:prstGeom>
          <a:noFill/>
        </p:spPr>
        <p:txBody>
          <a:bodyPr wrap="square" rtlCol="0">
            <a:spAutoFit/>
          </a:bodyPr>
          <a:lstStyle/>
          <a:p>
            <a:pPr marL="285750" lvl="0" indent="-285750" defTabSz="914400" eaLnBrk="0" fontAlgn="base" hangingPunct="0">
              <a:spcBef>
                <a:spcPct val="0"/>
              </a:spcBef>
              <a:spcAft>
                <a:spcPct val="0"/>
              </a:spcAft>
              <a:buFont typeface="Arial" panose="020B0604020202020204" pitchFamily="34" charset="0"/>
              <a:buChar char="•"/>
            </a:pPr>
            <a:r>
              <a:rPr lang="en-US" altLang="en-US" b="1" dirty="0">
                <a:latin typeface="Arial" panose="020B0604020202020204" pitchFamily="34" charset="0"/>
              </a:rPr>
              <a:t>Females</a:t>
            </a:r>
            <a:r>
              <a:rPr lang="en-US" altLang="en-US" dirty="0">
                <a:latin typeface="Arial" panose="020B0604020202020204" pitchFamily="34" charset="0"/>
              </a:rPr>
              <a:t> show the </a:t>
            </a:r>
            <a:r>
              <a:rPr lang="en-US" altLang="en-US" b="1" dirty="0">
                <a:latin typeface="Arial" panose="020B0604020202020204" pitchFamily="34" charset="0"/>
              </a:rPr>
              <a:t>highest percentage</a:t>
            </a:r>
            <a:r>
              <a:rPr lang="en-US" altLang="en-US" dirty="0">
                <a:latin typeface="Arial" panose="020B0604020202020204" pitchFamily="34" charset="0"/>
              </a:rPr>
              <a:t> in family communication at </a:t>
            </a:r>
            <a:r>
              <a:rPr lang="en-US" altLang="en-US" b="1" dirty="0">
                <a:latin typeface="Arial" panose="020B0604020202020204" pitchFamily="34" charset="0"/>
              </a:rPr>
              <a:t>34%</a:t>
            </a:r>
            <a:r>
              <a:rPr lang="en-US" altLang="en-US" dirty="0">
                <a:latin typeface="Arial" panose="020B0604020202020204" pitchFamily="34" charset="0"/>
              </a:rPr>
              <a:t>.</a:t>
            </a:r>
          </a:p>
          <a:p>
            <a:pPr marL="285750" lvl="0" indent="-285750" defTabSz="914400" eaLnBrk="0" fontAlgn="base" hangingPunct="0">
              <a:spcBef>
                <a:spcPct val="0"/>
              </a:spcBef>
              <a:spcAft>
                <a:spcPct val="0"/>
              </a:spcAft>
              <a:buFont typeface="Arial" panose="020B0604020202020204" pitchFamily="34" charset="0"/>
              <a:buChar char="•"/>
            </a:pPr>
            <a:r>
              <a:rPr lang="en-US" altLang="en-US" b="1" dirty="0">
                <a:latin typeface="Arial" panose="020B0604020202020204" pitchFamily="34" charset="0"/>
              </a:rPr>
              <a:t>Males</a:t>
            </a:r>
            <a:r>
              <a:rPr lang="en-US" altLang="en-US" dirty="0">
                <a:latin typeface="Arial" panose="020B0604020202020204" pitchFamily="34" charset="0"/>
              </a:rPr>
              <a:t> and individuals identifying as </a:t>
            </a:r>
            <a:r>
              <a:rPr lang="en-US" altLang="en-US" b="1" dirty="0">
                <a:latin typeface="Arial" panose="020B0604020202020204" pitchFamily="34" charset="0"/>
              </a:rPr>
              <a:t>Other</a:t>
            </a:r>
            <a:r>
              <a:rPr lang="en-US" altLang="en-US" dirty="0">
                <a:latin typeface="Arial" panose="020B0604020202020204" pitchFamily="34" charset="0"/>
              </a:rPr>
              <a:t> each account for </a:t>
            </a:r>
            <a:r>
              <a:rPr lang="en-US" altLang="en-US" b="1" dirty="0">
                <a:latin typeface="Arial" panose="020B0604020202020204" pitchFamily="34" charset="0"/>
              </a:rPr>
              <a:t>33%</a:t>
            </a:r>
            <a:r>
              <a:rPr lang="en-US" altLang="en-US" dirty="0">
                <a:latin typeface="Arial" panose="020B0604020202020204" pitchFamily="34" charset="0"/>
              </a:rPr>
              <a:t>.</a:t>
            </a: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The distribution is </a:t>
            </a:r>
            <a:r>
              <a:rPr lang="en-US" altLang="en-US" b="1" dirty="0">
                <a:latin typeface="Arial" panose="020B0604020202020204" pitchFamily="34" charset="0"/>
              </a:rPr>
              <a:t>fairly balanced</a:t>
            </a:r>
            <a:r>
              <a:rPr lang="en-US" altLang="en-US" dirty="0">
                <a:latin typeface="Arial" panose="020B0604020202020204" pitchFamily="34" charset="0"/>
              </a:rPr>
              <a:t> across all gender groups.</a:t>
            </a: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Slightly higher communication among females may indicate </a:t>
            </a:r>
            <a:r>
              <a:rPr lang="en-US" altLang="en-US" b="1" dirty="0">
                <a:latin typeface="Arial" panose="020B0604020202020204" pitchFamily="34" charset="0"/>
              </a:rPr>
              <a:t>stronger family engagement</a:t>
            </a:r>
            <a:r>
              <a:rPr lang="en-US" altLang="en-US" dirty="0">
                <a:latin typeface="Arial" panose="020B0604020202020204" pitchFamily="34" charset="0"/>
              </a:rPr>
              <a:t>.</a:t>
            </a:r>
          </a:p>
          <a:p>
            <a:endParaRPr lang="en-IN" dirty="0"/>
          </a:p>
        </p:txBody>
      </p:sp>
      <p:graphicFrame>
        <p:nvGraphicFramePr>
          <p:cNvPr id="7" name="Chart 6">
            <a:extLst>
              <a:ext uri="{FF2B5EF4-FFF2-40B4-BE49-F238E27FC236}">
                <a16:creationId xmlns:a16="http://schemas.microsoft.com/office/drawing/2014/main" id="{54A45E7E-CBD3-4A71-8E9C-F4CB21EE6957}"/>
              </a:ext>
            </a:extLst>
          </p:cNvPr>
          <p:cNvGraphicFramePr>
            <a:graphicFrameLocks/>
          </p:cNvGraphicFramePr>
          <p:nvPr>
            <p:extLst>
              <p:ext uri="{D42A27DB-BD31-4B8C-83A1-F6EECF244321}">
                <p14:modId xmlns:p14="http://schemas.microsoft.com/office/powerpoint/2010/main" val="1553938069"/>
              </p:ext>
            </p:extLst>
          </p:nvPr>
        </p:nvGraphicFramePr>
        <p:xfrm>
          <a:off x="3496733" y="1348997"/>
          <a:ext cx="4842934" cy="2757519"/>
        </p:xfrm>
        <a:graphic>
          <a:graphicData uri="http://schemas.openxmlformats.org/drawingml/2006/chart">
            <c:chart xmlns:c="http://schemas.openxmlformats.org/drawingml/2006/chart" xmlns:r="http://schemas.openxmlformats.org/officeDocument/2006/relationships" r:id="rId4"/>
          </a:graphicData>
        </a:graphic>
      </p:graphicFrame>
      <p:sp>
        <p:nvSpPr>
          <p:cNvPr id="3" name="Frame 2">
            <a:extLst>
              <a:ext uri="{FF2B5EF4-FFF2-40B4-BE49-F238E27FC236}">
                <a16:creationId xmlns:a16="http://schemas.microsoft.com/office/drawing/2014/main" id="{81A30109-1250-3BE2-CBF6-DE0A8A913613}"/>
              </a:ext>
            </a:extLst>
          </p:cNvPr>
          <p:cNvSpPr/>
          <p:nvPr/>
        </p:nvSpPr>
        <p:spPr>
          <a:xfrm rot="18917285">
            <a:off x="-3239708" y="3149195"/>
            <a:ext cx="6026573" cy="8458200"/>
          </a:xfrm>
          <a:prstGeom prst="fram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8468667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60890-FC18-442D-1785-9A4304DB835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E38980C-3BFA-1A47-92D1-B9D78A48877E}"/>
              </a:ext>
            </a:extLst>
          </p:cNvPr>
          <p:cNvSpPr>
            <a:spLocks noGrp="1"/>
          </p:cNvSpPr>
          <p:nvPr>
            <p:ph type="ctrTitle"/>
          </p:nvPr>
        </p:nvSpPr>
        <p:spPr>
          <a:xfrm>
            <a:off x="1030147" y="-300969"/>
            <a:ext cx="9144000" cy="1413235"/>
          </a:xfrm>
        </p:spPr>
        <p:txBody>
          <a:bodyPr>
            <a:normAutofit/>
          </a:bodyPr>
          <a:lstStyle/>
          <a:p>
            <a:r>
              <a:rPr lang="en-IN" sz="6600"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rPr>
              <a:t>Result</a:t>
            </a:r>
          </a:p>
        </p:txBody>
      </p:sp>
      <p:pic>
        <p:nvPicPr>
          <p:cNvPr id="1028" name="Picture 4" descr="Phone Addiction Chain Hold Smartphone Gadget Technology Problem Slavery ...">
            <a:extLst>
              <a:ext uri="{FF2B5EF4-FFF2-40B4-BE49-F238E27FC236}">
                <a16:creationId xmlns:a16="http://schemas.microsoft.com/office/drawing/2014/main" id="{5E860192-1AD2-BF83-9389-63A7BA3675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8591" y="99320"/>
            <a:ext cx="1199146" cy="112303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3DA38717-D6AC-67BB-2308-820BB1B5C3CE}"/>
              </a:ext>
            </a:extLst>
          </p:cNvPr>
          <p:cNvSpPr txBox="1"/>
          <p:nvPr/>
        </p:nvSpPr>
        <p:spPr>
          <a:xfrm>
            <a:off x="2785611" y="4173357"/>
            <a:ext cx="6112724" cy="2585323"/>
          </a:xfrm>
          <a:prstGeom prst="rect">
            <a:avLst/>
          </a:prstGeom>
          <a:noFill/>
        </p:spPr>
        <p:txBody>
          <a:bodyPr wrap="square" rtlCol="0">
            <a:spAutoFit/>
          </a:bodyPr>
          <a:lstStyle/>
          <a:p>
            <a:pPr marL="285750" lvl="0" indent="-285750" defTabSz="914400" eaLnBrk="0" fontAlgn="base" hangingPunct="0">
              <a:spcBef>
                <a:spcPct val="0"/>
              </a:spcBef>
              <a:spcAft>
                <a:spcPct val="0"/>
              </a:spcAft>
              <a:buFont typeface="Arial" panose="020B0604020202020204" pitchFamily="34" charset="0"/>
              <a:buChar char="•"/>
            </a:pPr>
            <a:r>
              <a:rPr lang="en-US" altLang="en-US" b="1" dirty="0">
                <a:latin typeface="Arial" panose="020B0604020202020204" pitchFamily="34" charset="0"/>
              </a:rPr>
              <a:t>Addiction levels</a:t>
            </a:r>
            <a:r>
              <a:rPr lang="en-US" altLang="en-US" dirty="0">
                <a:latin typeface="Arial" panose="020B0604020202020204" pitchFamily="34" charset="0"/>
              </a:rPr>
              <a:t> remain consistently </a:t>
            </a:r>
            <a:r>
              <a:rPr lang="en-US" altLang="en-US" b="1" dirty="0">
                <a:latin typeface="Arial" panose="020B0604020202020204" pitchFamily="34" charset="0"/>
              </a:rPr>
              <a:t>high (around 8.8 to 9)</a:t>
            </a:r>
            <a:r>
              <a:rPr lang="en-US" altLang="en-US" dirty="0">
                <a:latin typeface="Arial" panose="020B0604020202020204" pitchFamily="34" charset="0"/>
              </a:rPr>
              <a:t> across all age groups.</a:t>
            </a:r>
          </a:p>
          <a:p>
            <a:pPr marL="285750" lvl="0" indent="-285750" defTabSz="914400" eaLnBrk="0" fontAlgn="base" hangingPunct="0">
              <a:spcBef>
                <a:spcPct val="0"/>
              </a:spcBef>
              <a:spcAft>
                <a:spcPct val="0"/>
              </a:spcAft>
              <a:buFont typeface="Arial" panose="020B0604020202020204" pitchFamily="34" charset="0"/>
              <a:buChar char="•"/>
            </a:pPr>
            <a:r>
              <a:rPr lang="en-US" altLang="en-US" b="1" dirty="0">
                <a:latin typeface="Arial" panose="020B0604020202020204" pitchFamily="34" charset="0"/>
              </a:rPr>
              <a:t>Anxiety levels</a:t>
            </a:r>
            <a:r>
              <a:rPr lang="en-US" altLang="en-US" dirty="0">
                <a:latin typeface="Arial" panose="020B0604020202020204" pitchFamily="34" charset="0"/>
              </a:rPr>
              <a:t> stay moderate, ranging between </a:t>
            </a:r>
            <a:r>
              <a:rPr lang="en-US" altLang="en-US" b="1" dirty="0">
                <a:latin typeface="Arial" panose="020B0604020202020204" pitchFamily="34" charset="0"/>
              </a:rPr>
              <a:t>5.4 and 5.9</a:t>
            </a:r>
            <a:r>
              <a:rPr lang="en-US" altLang="en-US" dirty="0">
                <a:latin typeface="Arial" panose="020B0604020202020204" pitchFamily="34" charset="0"/>
              </a:rPr>
              <a:t> across ages 13–19.</a:t>
            </a:r>
          </a:p>
          <a:p>
            <a:pPr marL="285750" lvl="0" indent="-285750" defTabSz="914400" eaLnBrk="0" fontAlgn="base" hangingPunct="0">
              <a:spcBef>
                <a:spcPct val="0"/>
              </a:spcBef>
              <a:spcAft>
                <a:spcPct val="0"/>
              </a:spcAft>
              <a:buFont typeface="Arial" panose="020B0604020202020204" pitchFamily="34" charset="0"/>
              <a:buChar char="•"/>
            </a:pPr>
            <a:r>
              <a:rPr lang="en-US" altLang="en-US" b="1" dirty="0">
                <a:latin typeface="Arial" panose="020B0604020202020204" pitchFamily="34" charset="0"/>
              </a:rPr>
              <a:t>Depression levels</a:t>
            </a:r>
            <a:r>
              <a:rPr lang="en-US" altLang="en-US" dirty="0">
                <a:latin typeface="Arial" panose="020B0604020202020204" pitchFamily="34" charset="0"/>
              </a:rPr>
              <a:t> show slight fluctuation, with a small </a:t>
            </a:r>
            <a:r>
              <a:rPr lang="en-US" altLang="en-US" b="1" dirty="0">
                <a:latin typeface="Arial" panose="020B0604020202020204" pitchFamily="34" charset="0"/>
              </a:rPr>
              <a:t>peak at age 18</a:t>
            </a:r>
            <a:r>
              <a:rPr lang="en-US" altLang="en-US" dirty="0">
                <a:latin typeface="Arial" panose="020B0604020202020204" pitchFamily="34" charset="0"/>
              </a:rPr>
              <a:t>.</a:t>
            </a: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The consistently high addiction scores suggest a </a:t>
            </a:r>
            <a:r>
              <a:rPr lang="en-US" altLang="en-US" b="1" dirty="0">
                <a:latin typeface="Arial" panose="020B0604020202020204" pitchFamily="34" charset="0"/>
              </a:rPr>
              <a:t>strong link between age and smartphone dependency</a:t>
            </a:r>
            <a:r>
              <a:rPr lang="en-US" altLang="en-US" dirty="0">
                <a:latin typeface="Arial" panose="020B0604020202020204" pitchFamily="34" charset="0"/>
              </a:rPr>
              <a:t>.</a:t>
            </a:r>
          </a:p>
        </p:txBody>
      </p:sp>
      <p:graphicFrame>
        <p:nvGraphicFramePr>
          <p:cNvPr id="2" name="Chart 1">
            <a:extLst>
              <a:ext uri="{FF2B5EF4-FFF2-40B4-BE49-F238E27FC236}">
                <a16:creationId xmlns:a16="http://schemas.microsoft.com/office/drawing/2014/main" id="{29451011-28F5-17CC-F184-41814BFC6C83}"/>
              </a:ext>
            </a:extLst>
          </p:cNvPr>
          <p:cNvGraphicFramePr>
            <a:graphicFrameLocks/>
          </p:cNvGraphicFramePr>
          <p:nvPr>
            <p:extLst>
              <p:ext uri="{D42A27DB-BD31-4B8C-83A1-F6EECF244321}">
                <p14:modId xmlns:p14="http://schemas.microsoft.com/office/powerpoint/2010/main" val="3245908686"/>
              </p:ext>
            </p:extLst>
          </p:nvPr>
        </p:nvGraphicFramePr>
        <p:xfrm>
          <a:off x="2540000" y="1222358"/>
          <a:ext cx="7035800" cy="2840908"/>
        </p:xfrm>
        <a:graphic>
          <a:graphicData uri="http://schemas.openxmlformats.org/drawingml/2006/chart">
            <c:chart xmlns:c="http://schemas.openxmlformats.org/drawingml/2006/chart" xmlns:r="http://schemas.openxmlformats.org/officeDocument/2006/relationships" r:id="rId4"/>
          </a:graphicData>
        </a:graphic>
      </p:graphicFrame>
      <p:sp>
        <p:nvSpPr>
          <p:cNvPr id="3" name="Frame 2">
            <a:extLst>
              <a:ext uri="{FF2B5EF4-FFF2-40B4-BE49-F238E27FC236}">
                <a16:creationId xmlns:a16="http://schemas.microsoft.com/office/drawing/2014/main" id="{5B678A2F-43FA-8B0D-7444-C667F278B47E}"/>
              </a:ext>
            </a:extLst>
          </p:cNvPr>
          <p:cNvSpPr/>
          <p:nvPr/>
        </p:nvSpPr>
        <p:spPr>
          <a:xfrm rot="18917285">
            <a:off x="-3483548" y="3079528"/>
            <a:ext cx="6026573" cy="8458200"/>
          </a:xfrm>
          <a:prstGeom prst="fram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864146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DF58C-7BDF-4BF8-C381-1EBE8F8F3CD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C3CD8F0-26FD-DA01-4A5F-2A5245058466}"/>
              </a:ext>
            </a:extLst>
          </p:cNvPr>
          <p:cNvSpPr>
            <a:spLocks noGrp="1"/>
          </p:cNvSpPr>
          <p:nvPr>
            <p:ph type="ctrTitle"/>
          </p:nvPr>
        </p:nvSpPr>
        <p:spPr>
          <a:xfrm>
            <a:off x="1030147" y="-300969"/>
            <a:ext cx="9144000" cy="1413235"/>
          </a:xfrm>
        </p:spPr>
        <p:txBody>
          <a:bodyPr>
            <a:normAutofit/>
          </a:bodyPr>
          <a:lstStyle/>
          <a:p>
            <a:r>
              <a:rPr lang="en-IN" sz="6600"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rPr>
              <a:t>Result</a:t>
            </a:r>
          </a:p>
        </p:txBody>
      </p:sp>
      <p:pic>
        <p:nvPicPr>
          <p:cNvPr id="1028" name="Picture 4" descr="Phone Addiction Chain Hold Smartphone Gadget Technology Problem Slavery ...">
            <a:extLst>
              <a:ext uri="{FF2B5EF4-FFF2-40B4-BE49-F238E27FC236}">
                <a16:creationId xmlns:a16="http://schemas.microsoft.com/office/drawing/2014/main" id="{78214C03-96E4-D32A-8DCC-28AC86042E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8591" y="99320"/>
            <a:ext cx="1199146" cy="112303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D8120AC0-026E-553E-5A1F-5C954F3C24EA}"/>
              </a:ext>
            </a:extLst>
          </p:cNvPr>
          <p:cNvSpPr txBox="1"/>
          <p:nvPr/>
        </p:nvSpPr>
        <p:spPr>
          <a:xfrm>
            <a:off x="2694728" y="4292768"/>
            <a:ext cx="6112724" cy="2585323"/>
          </a:xfrm>
          <a:prstGeom prst="rect">
            <a:avLst/>
          </a:prstGeom>
          <a:noFill/>
        </p:spPr>
        <p:txBody>
          <a:bodyPr wrap="square" rtlCol="0">
            <a:spAutoFit/>
          </a:bodyPr>
          <a:lstStyle/>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Students in </a:t>
            </a:r>
            <a:r>
              <a:rPr lang="en-US" altLang="en-US" b="1" dirty="0">
                <a:latin typeface="Times New Roman" panose="02020603050405020304" pitchFamily="18" charset="0"/>
                <a:cs typeface="Times New Roman" panose="02020603050405020304" pitchFamily="18" charset="0"/>
              </a:rPr>
              <a:t>12th grade</a:t>
            </a:r>
            <a:r>
              <a:rPr lang="en-US" altLang="en-US" dirty="0">
                <a:latin typeface="Times New Roman" panose="02020603050405020304" pitchFamily="18" charset="0"/>
                <a:cs typeface="Times New Roman" panose="02020603050405020304" pitchFamily="18" charset="0"/>
              </a:rPr>
              <a:t> have the </a:t>
            </a:r>
            <a:r>
              <a:rPr lang="en-US" altLang="en-US" b="1" dirty="0">
                <a:latin typeface="Times New Roman" panose="02020603050405020304" pitchFamily="18" charset="0"/>
                <a:cs typeface="Times New Roman" panose="02020603050405020304" pitchFamily="18" charset="0"/>
              </a:rPr>
              <a:t>highest average phone checks per day</a:t>
            </a:r>
            <a:r>
              <a:rPr lang="en-US" altLang="en-US" dirty="0">
                <a:latin typeface="Times New Roman" panose="02020603050405020304" pitchFamily="18" charset="0"/>
                <a:cs typeface="Times New Roman" panose="02020603050405020304" pitchFamily="18" charset="0"/>
              </a:rPr>
              <a:t> at </a:t>
            </a:r>
            <a:r>
              <a:rPr lang="en-US" altLang="en-US" b="1" dirty="0">
                <a:latin typeface="Times New Roman" panose="02020603050405020304" pitchFamily="18" charset="0"/>
                <a:cs typeface="Times New Roman" panose="02020603050405020304" pitchFamily="18" charset="0"/>
              </a:rPr>
              <a:t>84.49 times</a:t>
            </a:r>
            <a:r>
              <a:rPr lang="en-US" altLang="en-US" dirty="0">
                <a:latin typeface="Times New Roman" panose="02020603050405020304" pitchFamily="18" charset="0"/>
                <a:cs typeface="Times New Roman" panose="02020603050405020304" pitchFamily="18" charset="0"/>
              </a:rPr>
              <a:t>.</a:t>
            </a: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Grades </a:t>
            </a:r>
            <a:r>
              <a:rPr lang="en-US" altLang="en-US" b="1" dirty="0">
                <a:latin typeface="Times New Roman" panose="02020603050405020304" pitchFamily="18" charset="0"/>
                <a:cs typeface="Times New Roman" panose="02020603050405020304" pitchFamily="18" charset="0"/>
              </a:rPr>
              <a:t>7th, 8th, and 11th</a:t>
            </a:r>
            <a:r>
              <a:rPr lang="en-US" altLang="en-US" dirty="0">
                <a:latin typeface="Times New Roman" panose="02020603050405020304" pitchFamily="18" charset="0"/>
                <a:cs typeface="Times New Roman" panose="02020603050405020304" pitchFamily="18" charset="0"/>
              </a:rPr>
              <a:t> also show </a:t>
            </a:r>
            <a:r>
              <a:rPr lang="en-US" altLang="en-US" b="1" dirty="0">
                <a:latin typeface="Times New Roman" panose="02020603050405020304" pitchFamily="18" charset="0"/>
                <a:cs typeface="Times New Roman" panose="02020603050405020304" pitchFamily="18" charset="0"/>
              </a:rPr>
              <a:t>high phone check rates</a:t>
            </a:r>
            <a:r>
              <a:rPr lang="en-US" altLang="en-US" dirty="0">
                <a:latin typeface="Times New Roman" panose="02020603050405020304" pitchFamily="18" charset="0"/>
                <a:cs typeface="Times New Roman" panose="02020603050405020304" pitchFamily="18" charset="0"/>
              </a:rPr>
              <a:t>, all above </a:t>
            </a:r>
            <a:r>
              <a:rPr lang="en-US" altLang="en-US" b="1" dirty="0">
                <a:latin typeface="Times New Roman" panose="02020603050405020304" pitchFamily="18" charset="0"/>
                <a:cs typeface="Times New Roman" panose="02020603050405020304" pitchFamily="18" charset="0"/>
              </a:rPr>
              <a:t>82 times/day</a:t>
            </a:r>
            <a:r>
              <a:rPr lang="en-US" altLang="en-US" dirty="0">
                <a:latin typeface="Times New Roman" panose="02020603050405020304" pitchFamily="18" charset="0"/>
                <a:cs typeface="Times New Roman" panose="02020603050405020304" pitchFamily="18" charset="0"/>
              </a:rPr>
              <a:t>.</a:t>
            </a: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Grades </a:t>
            </a:r>
            <a:r>
              <a:rPr lang="en-US" altLang="en-US" b="1" dirty="0">
                <a:latin typeface="Times New Roman" panose="02020603050405020304" pitchFamily="18" charset="0"/>
                <a:cs typeface="Times New Roman" panose="02020603050405020304" pitchFamily="18" charset="0"/>
              </a:rPr>
              <a:t>9th and 10th</a:t>
            </a:r>
            <a:r>
              <a:rPr lang="en-US" altLang="en-US" dirty="0">
                <a:latin typeface="Times New Roman" panose="02020603050405020304" pitchFamily="18" charset="0"/>
                <a:cs typeface="Times New Roman" panose="02020603050405020304" pitchFamily="18" charset="0"/>
              </a:rPr>
              <a:t> have </a:t>
            </a:r>
            <a:r>
              <a:rPr lang="en-US" altLang="en-US" b="1" dirty="0">
                <a:latin typeface="Times New Roman" panose="02020603050405020304" pitchFamily="18" charset="0"/>
                <a:cs typeface="Times New Roman" panose="02020603050405020304" pitchFamily="18" charset="0"/>
              </a:rPr>
              <a:t>slightly lower averages</a:t>
            </a:r>
            <a:r>
              <a:rPr lang="en-US" altLang="en-US" dirty="0">
                <a:latin typeface="Times New Roman" panose="02020603050405020304" pitchFamily="18" charset="0"/>
                <a:cs typeface="Times New Roman" panose="02020603050405020304" pitchFamily="18" charset="0"/>
              </a:rPr>
              <a:t>, around </a:t>
            </a:r>
            <a:r>
              <a:rPr lang="en-US" altLang="en-US" b="1" dirty="0">
                <a:latin typeface="Times New Roman" panose="02020603050405020304" pitchFamily="18" charset="0"/>
                <a:cs typeface="Times New Roman" panose="02020603050405020304" pitchFamily="18" charset="0"/>
              </a:rPr>
              <a:t>81–82 checks/day</a:t>
            </a:r>
            <a:r>
              <a:rPr lang="en-US" altLang="en-US" dirty="0">
                <a:latin typeface="Times New Roman" panose="02020603050405020304" pitchFamily="18" charset="0"/>
                <a:cs typeface="Times New Roman" panose="02020603050405020304" pitchFamily="18" charset="0"/>
              </a:rPr>
              <a:t>.</a:t>
            </a: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Overall, all grades show </a:t>
            </a:r>
            <a:r>
              <a:rPr lang="en-US" altLang="en-US" b="1" dirty="0">
                <a:latin typeface="Times New Roman" panose="02020603050405020304" pitchFamily="18" charset="0"/>
                <a:cs typeface="Times New Roman" panose="02020603050405020304" pitchFamily="18" charset="0"/>
              </a:rPr>
              <a:t>frequent phone usage</a:t>
            </a:r>
            <a:r>
              <a:rPr lang="en-US" altLang="en-US" dirty="0">
                <a:latin typeface="Times New Roman" panose="02020603050405020304" pitchFamily="18" charset="0"/>
                <a:cs typeface="Times New Roman" panose="02020603050405020304" pitchFamily="18" charset="0"/>
              </a:rPr>
              <a:t>, indicating a high level of digital engagement across school levels.</a:t>
            </a:r>
          </a:p>
          <a:p>
            <a:pPr lvl="0" defTabSz="914400" eaLnBrk="0" fontAlgn="base" hangingPunct="0">
              <a:spcBef>
                <a:spcPct val="0"/>
              </a:spcBef>
              <a:spcAft>
                <a:spcPct val="0"/>
              </a:spcAft>
            </a:pPr>
            <a:endParaRPr lang="en-US" altLang="en-US" dirty="0">
              <a:latin typeface="Arial" panose="020B0604020202020204" pitchFamily="34" charset="0"/>
            </a:endParaRPr>
          </a:p>
        </p:txBody>
      </p:sp>
      <p:graphicFrame>
        <p:nvGraphicFramePr>
          <p:cNvPr id="3" name="Chart 2">
            <a:extLst>
              <a:ext uri="{FF2B5EF4-FFF2-40B4-BE49-F238E27FC236}">
                <a16:creationId xmlns:a16="http://schemas.microsoft.com/office/drawing/2014/main" id="{C0193A5C-A2D2-44A0-90DB-0829266107C3}"/>
              </a:ext>
            </a:extLst>
          </p:cNvPr>
          <p:cNvGraphicFramePr>
            <a:graphicFrameLocks/>
          </p:cNvGraphicFramePr>
          <p:nvPr>
            <p:extLst>
              <p:ext uri="{D42A27DB-BD31-4B8C-83A1-F6EECF244321}">
                <p14:modId xmlns:p14="http://schemas.microsoft.com/office/powerpoint/2010/main" val="3563009960"/>
              </p:ext>
            </p:extLst>
          </p:nvPr>
        </p:nvGraphicFramePr>
        <p:xfrm>
          <a:off x="2777068" y="1101340"/>
          <a:ext cx="5960532" cy="3081336"/>
        </p:xfrm>
        <a:graphic>
          <a:graphicData uri="http://schemas.openxmlformats.org/drawingml/2006/chart">
            <c:chart xmlns:c="http://schemas.openxmlformats.org/drawingml/2006/chart" xmlns:r="http://schemas.openxmlformats.org/officeDocument/2006/relationships" r:id="rId4"/>
          </a:graphicData>
        </a:graphic>
      </p:graphicFrame>
      <p:sp>
        <p:nvSpPr>
          <p:cNvPr id="2" name="Frame 1">
            <a:extLst>
              <a:ext uri="{FF2B5EF4-FFF2-40B4-BE49-F238E27FC236}">
                <a16:creationId xmlns:a16="http://schemas.microsoft.com/office/drawing/2014/main" id="{4F71C6E9-00E6-7B90-782F-19277EB0F738}"/>
              </a:ext>
            </a:extLst>
          </p:cNvPr>
          <p:cNvSpPr/>
          <p:nvPr/>
        </p:nvSpPr>
        <p:spPr>
          <a:xfrm rot="18917285">
            <a:off x="-3344212" y="3218865"/>
            <a:ext cx="6026573" cy="8458200"/>
          </a:xfrm>
          <a:prstGeom prst="fram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8531699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A68B3-4E8B-87E4-B3BE-F3CE9D937FE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AFDD03A-29D6-964B-9F91-138537D2E02A}"/>
              </a:ext>
            </a:extLst>
          </p:cNvPr>
          <p:cNvSpPr>
            <a:spLocks noGrp="1"/>
          </p:cNvSpPr>
          <p:nvPr>
            <p:ph type="ctrTitle"/>
          </p:nvPr>
        </p:nvSpPr>
        <p:spPr>
          <a:xfrm>
            <a:off x="1030147" y="-300969"/>
            <a:ext cx="9144000" cy="1413235"/>
          </a:xfrm>
        </p:spPr>
        <p:txBody>
          <a:bodyPr>
            <a:normAutofit/>
          </a:bodyPr>
          <a:lstStyle/>
          <a:p>
            <a:r>
              <a:rPr lang="en-IN" sz="6600"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rPr>
              <a:t>Result</a:t>
            </a:r>
          </a:p>
        </p:txBody>
      </p:sp>
      <p:pic>
        <p:nvPicPr>
          <p:cNvPr id="1028" name="Picture 4" descr="Phone Addiction Chain Hold Smartphone Gadget Technology Problem Slavery ...">
            <a:extLst>
              <a:ext uri="{FF2B5EF4-FFF2-40B4-BE49-F238E27FC236}">
                <a16:creationId xmlns:a16="http://schemas.microsoft.com/office/drawing/2014/main" id="{83EE30D3-0CC8-707D-4B11-B714351B0E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8591" y="99320"/>
            <a:ext cx="1199146" cy="112303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778EC939-3535-962E-8A7B-0900DC943C37}"/>
              </a:ext>
            </a:extLst>
          </p:cNvPr>
          <p:cNvSpPr txBox="1"/>
          <p:nvPr/>
        </p:nvSpPr>
        <p:spPr>
          <a:xfrm>
            <a:off x="3126216" y="4173357"/>
            <a:ext cx="5618871" cy="2585323"/>
          </a:xfrm>
          <a:prstGeom prst="rect">
            <a:avLst/>
          </a:prstGeom>
          <a:noFill/>
        </p:spPr>
        <p:txBody>
          <a:bodyPr wrap="square" rtlCol="0">
            <a:spAutoFit/>
          </a:bodyPr>
          <a:lstStyle/>
          <a:p>
            <a:pPr marL="285750" lvl="0" indent="-285750" defTabSz="914400"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Females at age 19</a:t>
            </a:r>
            <a:r>
              <a:rPr lang="en-US" altLang="en-US" dirty="0">
                <a:latin typeface="Times New Roman" panose="02020603050405020304" pitchFamily="18" charset="0"/>
                <a:cs typeface="Times New Roman" panose="02020603050405020304" pitchFamily="18" charset="0"/>
              </a:rPr>
              <a:t> show the </a:t>
            </a:r>
            <a:r>
              <a:rPr lang="en-US" altLang="en-US" b="1" dirty="0">
                <a:latin typeface="Times New Roman" panose="02020603050405020304" pitchFamily="18" charset="0"/>
                <a:cs typeface="Times New Roman" panose="02020603050405020304" pitchFamily="18" charset="0"/>
              </a:rPr>
              <a:t>highest addiction level</a:t>
            </a:r>
            <a:r>
              <a:rPr lang="en-US" altLang="en-US" dirty="0">
                <a:latin typeface="Times New Roman" panose="02020603050405020304" pitchFamily="18" charset="0"/>
                <a:cs typeface="Times New Roman" panose="02020603050405020304" pitchFamily="18" charset="0"/>
              </a:rPr>
              <a:t>, slightly above </a:t>
            </a:r>
            <a:r>
              <a:rPr lang="en-US" altLang="en-US" b="1" dirty="0">
                <a:latin typeface="Times New Roman" panose="02020603050405020304" pitchFamily="18" charset="0"/>
                <a:cs typeface="Times New Roman" panose="02020603050405020304" pitchFamily="18" charset="0"/>
              </a:rPr>
              <a:t>9.1</a:t>
            </a:r>
            <a:r>
              <a:rPr lang="en-US" altLang="en-US" dirty="0">
                <a:latin typeface="Times New Roman" panose="02020603050405020304" pitchFamily="18" charset="0"/>
                <a:cs typeface="Times New Roman" panose="02020603050405020304" pitchFamily="18" charset="0"/>
              </a:rPr>
              <a:t>.</a:t>
            </a:r>
          </a:p>
          <a:p>
            <a:pPr marL="285750" lvl="0" indent="-285750" defTabSz="914400"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Males at age 16 and 18</a:t>
            </a:r>
            <a:r>
              <a:rPr lang="en-US" altLang="en-US" dirty="0">
                <a:latin typeface="Times New Roman" panose="02020603050405020304" pitchFamily="18" charset="0"/>
                <a:cs typeface="Times New Roman" panose="02020603050405020304" pitchFamily="18" charset="0"/>
              </a:rPr>
              <a:t> also show </a:t>
            </a:r>
            <a:r>
              <a:rPr lang="en-US" altLang="en-US" b="1" dirty="0">
                <a:latin typeface="Times New Roman" panose="02020603050405020304" pitchFamily="18" charset="0"/>
                <a:cs typeface="Times New Roman" panose="02020603050405020304" pitchFamily="18" charset="0"/>
              </a:rPr>
              <a:t>high addiction levels</a:t>
            </a:r>
            <a:r>
              <a:rPr lang="en-US" altLang="en-US" dirty="0">
                <a:latin typeface="Times New Roman" panose="02020603050405020304" pitchFamily="18" charset="0"/>
                <a:cs typeface="Times New Roman" panose="02020603050405020304" pitchFamily="18" charset="0"/>
              </a:rPr>
              <a:t>, close to </a:t>
            </a:r>
            <a:r>
              <a:rPr lang="en-US" altLang="en-US" b="1" dirty="0">
                <a:latin typeface="Times New Roman" panose="02020603050405020304" pitchFamily="18" charset="0"/>
                <a:cs typeface="Times New Roman" panose="02020603050405020304" pitchFamily="18" charset="0"/>
              </a:rPr>
              <a:t>9.1</a:t>
            </a:r>
            <a:r>
              <a:rPr lang="en-US" altLang="en-US" dirty="0">
                <a:latin typeface="Times New Roman" panose="02020603050405020304" pitchFamily="18" charset="0"/>
                <a:cs typeface="Times New Roman" panose="02020603050405020304" pitchFamily="18" charset="0"/>
              </a:rPr>
              <a:t>.</a:t>
            </a:r>
          </a:p>
          <a:p>
            <a:pPr marL="285750" lvl="0" indent="-285750" defTabSz="914400"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All genders across all ages</a:t>
            </a:r>
            <a:r>
              <a:rPr lang="en-US" altLang="en-US" dirty="0">
                <a:latin typeface="Times New Roman" panose="02020603050405020304" pitchFamily="18" charset="0"/>
                <a:cs typeface="Times New Roman" panose="02020603050405020304" pitchFamily="18" charset="0"/>
              </a:rPr>
              <a:t> have addiction levels above </a:t>
            </a:r>
            <a:r>
              <a:rPr lang="en-US" altLang="en-US" b="1" dirty="0">
                <a:latin typeface="Times New Roman" panose="02020603050405020304" pitchFamily="18" charset="0"/>
                <a:cs typeface="Times New Roman" panose="02020603050405020304" pitchFamily="18" charset="0"/>
              </a:rPr>
              <a:t>8.5</a:t>
            </a:r>
            <a:r>
              <a:rPr lang="en-US" altLang="en-US" dirty="0">
                <a:latin typeface="Times New Roman" panose="02020603050405020304" pitchFamily="18" charset="0"/>
                <a:cs typeface="Times New Roman" panose="02020603050405020304" pitchFamily="18" charset="0"/>
              </a:rPr>
              <a:t>, indicating widespread usage.</a:t>
            </a: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The </a:t>
            </a:r>
            <a:r>
              <a:rPr lang="en-US" altLang="en-US" b="1" dirty="0">
                <a:latin typeface="Times New Roman" panose="02020603050405020304" pitchFamily="18" charset="0"/>
                <a:cs typeface="Times New Roman" panose="02020603050405020304" pitchFamily="18" charset="0"/>
              </a:rPr>
              <a:t>"Other" gender group</a:t>
            </a:r>
            <a:r>
              <a:rPr lang="en-US" altLang="en-US" dirty="0">
                <a:latin typeface="Times New Roman" panose="02020603050405020304" pitchFamily="18" charset="0"/>
                <a:cs typeface="Times New Roman" panose="02020603050405020304" pitchFamily="18" charset="0"/>
              </a:rPr>
              <a:t> shows relatively </a:t>
            </a:r>
            <a:r>
              <a:rPr lang="en-US" altLang="en-US" b="1" dirty="0">
                <a:latin typeface="Times New Roman" panose="02020603050405020304" pitchFamily="18" charset="0"/>
                <a:cs typeface="Times New Roman" panose="02020603050405020304" pitchFamily="18" charset="0"/>
              </a:rPr>
              <a:t>stable but slightly lower addiction levels</a:t>
            </a:r>
            <a:r>
              <a:rPr lang="en-US" altLang="en-US" dirty="0">
                <a:latin typeface="Times New Roman" panose="02020603050405020304" pitchFamily="18" charset="0"/>
                <a:cs typeface="Times New Roman" panose="02020603050405020304" pitchFamily="18" charset="0"/>
              </a:rPr>
              <a:t> compared to males and females</a:t>
            </a:r>
            <a:endParaRPr lang="en-IN" dirty="0">
              <a:latin typeface="Times New Roman" panose="02020603050405020304" pitchFamily="18" charset="0"/>
              <a:cs typeface="Times New Roman" panose="02020603050405020304" pitchFamily="18" charset="0"/>
            </a:endParaRPr>
          </a:p>
        </p:txBody>
      </p:sp>
      <p:graphicFrame>
        <p:nvGraphicFramePr>
          <p:cNvPr id="6" name="Chart 5">
            <a:extLst>
              <a:ext uri="{FF2B5EF4-FFF2-40B4-BE49-F238E27FC236}">
                <a16:creationId xmlns:a16="http://schemas.microsoft.com/office/drawing/2014/main" id="{0DA1A1CA-DE62-BB7B-C401-0BBC90F59052}"/>
              </a:ext>
            </a:extLst>
          </p:cNvPr>
          <p:cNvGraphicFramePr>
            <a:graphicFrameLocks/>
          </p:cNvGraphicFramePr>
          <p:nvPr>
            <p:extLst>
              <p:ext uri="{D42A27DB-BD31-4B8C-83A1-F6EECF244321}">
                <p14:modId xmlns:p14="http://schemas.microsoft.com/office/powerpoint/2010/main" val="1763431348"/>
              </p:ext>
            </p:extLst>
          </p:nvPr>
        </p:nvGraphicFramePr>
        <p:xfrm>
          <a:off x="2870200" y="1112266"/>
          <a:ext cx="6409267" cy="2950999"/>
        </p:xfrm>
        <a:graphic>
          <a:graphicData uri="http://schemas.openxmlformats.org/drawingml/2006/chart">
            <c:chart xmlns:c="http://schemas.openxmlformats.org/drawingml/2006/chart" xmlns:r="http://schemas.openxmlformats.org/officeDocument/2006/relationships" r:id="rId4"/>
          </a:graphicData>
        </a:graphic>
      </p:graphicFrame>
      <p:sp>
        <p:nvSpPr>
          <p:cNvPr id="2" name="Frame 1">
            <a:extLst>
              <a:ext uri="{FF2B5EF4-FFF2-40B4-BE49-F238E27FC236}">
                <a16:creationId xmlns:a16="http://schemas.microsoft.com/office/drawing/2014/main" id="{5FF0B1CE-2559-70D2-FA1F-B2954BDC5B95}"/>
              </a:ext>
            </a:extLst>
          </p:cNvPr>
          <p:cNvSpPr/>
          <p:nvPr/>
        </p:nvSpPr>
        <p:spPr>
          <a:xfrm rot="18917285">
            <a:off x="-3178749" y="3096945"/>
            <a:ext cx="6026573" cy="8458200"/>
          </a:xfrm>
          <a:prstGeom prst="fram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861825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8645B-F2CC-C6D8-B8EA-F35A1EB582DA}"/>
            </a:ext>
          </a:extLst>
        </p:cNvPr>
        <p:cNvGrpSpPr/>
        <p:nvPr/>
      </p:nvGrpSpPr>
      <p:grpSpPr>
        <a:xfrm>
          <a:off x="0" y="0"/>
          <a:ext cx="0" cy="0"/>
          <a:chOff x="0" y="0"/>
          <a:chExt cx="0" cy="0"/>
        </a:xfrm>
      </p:grpSpPr>
      <p:sp>
        <p:nvSpPr>
          <p:cNvPr id="5" name="Frame 4">
            <a:extLst>
              <a:ext uri="{FF2B5EF4-FFF2-40B4-BE49-F238E27FC236}">
                <a16:creationId xmlns:a16="http://schemas.microsoft.com/office/drawing/2014/main" id="{F117DED7-7EF8-D793-B1A2-F34FFC968146}"/>
              </a:ext>
            </a:extLst>
          </p:cNvPr>
          <p:cNvSpPr/>
          <p:nvPr/>
        </p:nvSpPr>
        <p:spPr>
          <a:xfrm rot="18917285">
            <a:off x="-3013286" y="2992442"/>
            <a:ext cx="6026573" cy="8458200"/>
          </a:xfrm>
          <a:prstGeom prst="fram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ln w="0"/>
              <a:solidFill>
                <a:schemeClr val="tx1"/>
              </a:solidFill>
              <a:effectLst>
                <a:outerShdw blurRad="38100" dist="19050" dir="2700000" algn="tl" rotWithShape="0">
                  <a:schemeClr val="dk1">
                    <a:alpha val="40000"/>
                  </a:schemeClr>
                </a:outerShdw>
              </a:effectLst>
            </a:endParaRPr>
          </a:p>
        </p:txBody>
      </p:sp>
      <p:sp>
        <p:nvSpPr>
          <p:cNvPr id="4" name="Title 3">
            <a:extLst>
              <a:ext uri="{FF2B5EF4-FFF2-40B4-BE49-F238E27FC236}">
                <a16:creationId xmlns:a16="http://schemas.microsoft.com/office/drawing/2014/main" id="{80023300-89D8-A00F-5FE7-0EA8F5184332}"/>
              </a:ext>
            </a:extLst>
          </p:cNvPr>
          <p:cNvSpPr>
            <a:spLocks noGrp="1"/>
          </p:cNvSpPr>
          <p:nvPr>
            <p:ph type="ctrTitle"/>
          </p:nvPr>
        </p:nvSpPr>
        <p:spPr>
          <a:xfrm>
            <a:off x="2664298" y="243068"/>
            <a:ext cx="9144000" cy="1413235"/>
          </a:xfrm>
        </p:spPr>
        <p:txBody>
          <a:bodyPr>
            <a:normAutofit/>
          </a:bodyPr>
          <a:lstStyle/>
          <a:p>
            <a:r>
              <a:rPr lang="en-IN" sz="6600"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rPr>
              <a:t>Conclusion</a:t>
            </a:r>
          </a:p>
        </p:txBody>
      </p:sp>
      <p:pic>
        <p:nvPicPr>
          <p:cNvPr id="1028" name="Picture 4" descr="Phone Addiction Chain Hold Smartphone Gadget Technology Problem Slavery ...">
            <a:extLst>
              <a:ext uri="{FF2B5EF4-FFF2-40B4-BE49-F238E27FC236}">
                <a16:creationId xmlns:a16="http://schemas.microsoft.com/office/drawing/2014/main" id="{8E6B6AC0-6B62-DC68-DA54-B8C1B444FE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4558" y="243068"/>
            <a:ext cx="1921396" cy="189535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3EFF9E9-EAAF-2A94-7B85-DF97417113F1}"/>
              </a:ext>
            </a:extLst>
          </p:cNvPr>
          <p:cNvSpPr txBox="1"/>
          <p:nvPr/>
        </p:nvSpPr>
        <p:spPr>
          <a:xfrm>
            <a:off x="3181302" y="2138422"/>
            <a:ext cx="8657862" cy="3785652"/>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Teenage phone addiction is a growing concern in today’s digital world, with data showing consistently high screen time, frequent phone checks, and elevated addiction levels across age and school grades. The overuse of smartphones, particularly for social media and entertainment, is linked to issues like poor sleep, increased anxiety, and reduced real-life social interactions. The charts also highlight a gender balance in usage patterns but show a trend of rising addiction with age. Immediate awareness and intervention are essential to promote healthier digital habits and ensure the overall well-being of teenagers.</a:t>
            </a:r>
          </a:p>
        </p:txBody>
      </p:sp>
    </p:spTree>
    <p:extLst>
      <p:ext uri="{BB962C8B-B14F-4D97-AF65-F5344CB8AC3E}">
        <p14:creationId xmlns:p14="http://schemas.microsoft.com/office/powerpoint/2010/main" val="26787971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911F3-A837-7C5C-D170-DDF5BDEABCAE}"/>
            </a:ext>
          </a:extLst>
        </p:cNvPr>
        <p:cNvGrpSpPr/>
        <p:nvPr/>
      </p:nvGrpSpPr>
      <p:grpSpPr>
        <a:xfrm>
          <a:off x="0" y="0"/>
          <a:ext cx="0" cy="0"/>
          <a:chOff x="0" y="0"/>
          <a:chExt cx="0" cy="0"/>
        </a:xfrm>
      </p:grpSpPr>
      <p:sp>
        <p:nvSpPr>
          <p:cNvPr id="5" name="Frame 4">
            <a:extLst>
              <a:ext uri="{FF2B5EF4-FFF2-40B4-BE49-F238E27FC236}">
                <a16:creationId xmlns:a16="http://schemas.microsoft.com/office/drawing/2014/main" id="{2A8A8E7A-D8E7-0908-D66A-01EE58AE05CD}"/>
              </a:ext>
            </a:extLst>
          </p:cNvPr>
          <p:cNvSpPr/>
          <p:nvPr/>
        </p:nvSpPr>
        <p:spPr>
          <a:xfrm rot="18917285">
            <a:off x="-3013286" y="2992442"/>
            <a:ext cx="6026573" cy="8458200"/>
          </a:xfrm>
          <a:prstGeom prst="fram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ln w="0"/>
              <a:solidFill>
                <a:schemeClr val="tx1"/>
              </a:solidFill>
              <a:effectLst>
                <a:outerShdw blurRad="38100" dist="19050" dir="2700000" algn="tl" rotWithShape="0">
                  <a:schemeClr val="dk1">
                    <a:alpha val="40000"/>
                  </a:schemeClr>
                </a:outerShdw>
              </a:effectLst>
            </a:endParaRPr>
          </a:p>
        </p:txBody>
      </p:sp>
      <p:sp>
        <p:nvSpPr>
          <p:cNvPr id="4" name="Title 3">
            <a:extLst>
              <a:ext uri="{FF2B5EF4-FFF2-40B4-BE49-F238E27FC236}">
                <a16:creationId xmlns:a16="http://schemas.microsoft.com/office/drawing/2014/main" id="{78842CF7-3641-FFBC-3166-8C1584246E4A}"/>
              </a:ext>
            </a:extLst>
          </p:cNvPr>
          <p:cNvSpPr>
            <a:spLocks noGrp="1"/>
          </p:cNvSpPr>
          <p:nvPr>
            <p:ph type="ctrTitle"/>
          </p:nvPr>
        </p:nvSpPr>
        <p:spPr>
          <a:xfrm>
            <a:off x="2664298" y="243068"/>
            <a:ext cx="9144000" cy="1413235"/>
          </a:xfrm>
        </p:spPr>
        <p:txBody>
          <a:bodyPr>
            <a:normAutofit/>
          </a:bodyPr>
          <a:lstStyle/>
          <a:p>
            <a:r>
              <a:rPr lang="en-IN" sz="6600"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rPr>
              <a:t>Future Scope</a:t>
            </a:r>
          </a:p>
        </p:txBody>
      </p:sp>
      <p:pic>
        <p:nvPicPr>
          <p:cNvPr id="1028" name="Picture 4" descr="Phone Addiction Chain Hold Smartphone Gadget Technology Problem Slavery ...">
            <a:extLst>
              <a:ext uri="{FF2B5EF4-FFF2-40B4-BE49-F238E27FC236}">
                <a16:creationId xmlns:a16="http://schemas.microsoft.com/office/drawing/2014/main" id="{EF39B506-E619-4A80-CB47-0FA666787B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4558" y="243068"/>
            <a:ext cx="1921396" cy="189535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BEE81F4-F1DF-CF82-C894-822A8A0A2301}"/>
              </a:ext>
            </a:extLst>
          </p:cNvPr>
          <p:cNvSpPr txBox="1"/>
          <p:nvPr/>
        </p:nvSpPr>
        <p:spPr>
          <a:xfrm>
            <a:off x="3150436" y="2393065"/>
            <a:ext cx="8657862" cy="3416320"/>
          </a:xfrm>
          <a:prstGeom prst="rect">
            <a:avLst/>
          </a:prstGeom>
          <a:noFill/>
        </p:spPr>
        <p:txBody>
          <a:bodyPr wrap="square">
            <a:spAutoFit/>
          </a:bodyPr>
          <a:lstStyle/>
          <a:p>
            <a:pPr marL="342900" lvl="0" indent="-342900" defTabSz="914400" eaLnBrk="0" fontAlgn="base" hangingPunct="0">
              <a:spcBef>
                <a:spcPct val="0"/>
              </a:spcBef>
              <a:spcAft>
                <a:spcPct val="0"/>
              </a:spcAft>
              <a:buFont typeface="Arial" panose="020B0604020202020204" pitchFamily="34" charset="0"/>
              <a:buChar char="•"/>
            </a:pPr>
            <a:r>
              <a:rPr lang="en-US" altLang="en-US" sz="2400" b="1" dirty="0">
                <a:latin typeface="Arial" panose="020B0604020202020204" pitchFamily="34" charset="0"/>
              </a:rPr>
              <a:t>Digital Wellness Apps:</a:t>
            </a:r>
            <a:r>
              <a:rPr lang="en-US" altLang="en-US" sz="2400" dirty="0">
                <a:latin typeface="Arial" panose="020B0604020202020204" pitchFamily="34" charset="0"/>
              </a:rPr>
              <a:t> Tools to monitor and control screen time for teens.</a:t>
            </a:r>
          </a:p>
          <a:p>
            <a:pPr marL="342900" lvl="0" indent="-342900" defTabSz="914400" eaLnBrk="0" fontAlgn="base" hangingPunct="0">
              <a:spcBef>
                <a:spcPct val="0"/>
              </a:spcBef>
              <a:spcAft>
                <a:spcPct val="0"/>
              </a:spcAft>
              <a:buFont typeface="Arial" panose="020B0604020202020204" pitchFamily="34" charset="0"/>
              <a:buChar char="•"/>
            </a:pPr>
            <a:r>
              <a:rPr lang="en-US" altLang="en-US" sz="2400" b="1" dirty="0">
                <a:latin typeface="Arial" panose="020B0604020202020204" pitchFamily="34" charset="0"/>
              </a:rPr>
              <a:t>Digital Literacy in Schools:</a:t>
            </a:r>
            <a:r>
              <a:rPr lang="en-US" altLang="en-US" sz="2400" dirty="0">
                <a:latin typeface="Arial" panose="020B0604020202020204" pitchFamily="34" charset="0"/>
              </a:rPr>
              <a:t> Educating students on healthy tech use and its effects.</a:t>
            </a:r>
          </a:p>
          <a:p>
            <a:pPr marL="342900" lvl="0" indent="-342900" defTabSz="914400" eaLnBrk="0" fontAlgn="base" hangingPunct="0">
              <a:spcBef>
                <a:spcPct val="0"/>
              </a:spcBef>
              <a:spcAft>
                <a:spcPct val="0"/>
              </a:spcAft>
              <a:buFont typeface="Arial" panose="020B0604020202020204" pitchFamily="34" charset="0"/>
              <a:buChar char="•"/>
            </a:pPr>
            <a:r>
              <a:rPr lang="en-US" altLang="en-US" sz="2400" b="1" dirty="0">
                <a:latin typeface="Arial" panose="020B0604020202020204" pitchFamily="34" charset="0"/>
              </a:rPr>
              <a:t>Parent-Teacher Involvement:</a:t>
            </a:r>
            <a:r>
              <a:rPr lang="en-US" altLang="en-US" sz="2400" dirty="0">
                <a:latin typeface="Arial" panose="020B0604020202020204" pitchFamily="34" charset="0"/>
              </a:rPr>
              <a:t> Joint efforts to guide and monitor teen phone habits.</a:t>
            </a:r>
          </a:p>
          <a:p>
            <a:pPr marL="342900" lvl="0" indent="-342900" defTabSz="914400" eaLnBrk="0" fontAlgn="base" hangingPunct="0">
              <a:spcBef>
                <a:spcPct val="0"/>
              </a:spcBef>
              <a:spcAft>
                <a:spcPct val="0"/>
              </a:spcAft>
              <a:buFont typeface="Arial" panose="020B0604020202020204" pitchFamily="34" charset="0"/>
              <a:buChar char="•"/>
            </a:pPr>
            <a:r>
              <a:rPr lang="en-US" altLang="en-US" sz="2400" b="1" dirty="0">
                <a:latin typeface="Arial" panose="020B0604020202020204" pitchFamily="34" charset="0"/>
              </a:rPr>
              <a:t>Mental Health Research:</a:t>
            </a:r>
            <a:r>
              <a:rPr lang="en-US" altLang="en-US" sz="2400" dirty="0">
                <a:latin typeface="Arial" panose="020B0604020202020204" pitchFamily="34" charset="0"/>
              </a:rPr>
              <a:t> Long-term studies on the impact of phone addiction on teen well-being</a:t>
            </a: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61713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64897-E004-FFAA-C6D0-00B18658E71B}"/>
            </a:ext>
          </a:extLst>
        </p:cNvPr>
        <p:cNvGrpSpPr/>
        <p:nvPr/>
      </p:nvGrpSpPr>
      <p:grpSpPr>
        <a:xfrm>
          <a:off x="0" y="0"/>
          <a:ext cx="0" cy="0"/>
          <a:chOff x="0" y="0"/>
          <a:chExt cx="0" cy="0"/>
        </a:xfrm>
      </p:grpSpPr>
      <p:sp>
        <p:nvSpPr>
          <p:cNvPr id="5" name="Frame 4">
            <a:extLst>
              <a:ext uri="{FF2B5EF4-FFF2-40B4-BE49-F238E27FC236}">
                <a16:creationId xmlns:a16="http://schemas.microsoft.com/office/drawing/2014/main" id="{94BFDD5C-5DCC-F64E-3F5A-3F55566D3E05}"/>
              </a:ext>
            </a:extLst>
          </p:cNvPr>
          <p:cNvSpPr/>
          <p:nvPr/>
        </p:nvSpPr>
        <p:spPr>
          <a:xfrm rot="18917285">
            <a:off x="-3013286" y="2992442"/>
            <a:ext cx="6026573" cy="8458200"/>
          </a:xfrm>
          <a:prstGeom prst="fram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ln w="0"/>
              <a:solidFill>
                <a:schemeClr val="tx1"/>
              </a:solidFill>
              <a:effectLst>
                <a:outerShdw blurRad="38100" dist="19050" dir="2700000" algn="tl" rotWithShape="0">
                  <a:schemeClr val="dk1">
                    <a:alpha val="40000"/>
                  </a:schemeClr>
                </a:outerShdw>
              </a:effectLst>
            </a:endParaRPr>
          </a:p>
        </p:txBody>
      </p:sp>
      <p:sp>
        <p:nvSpPr>
          <p:cNvPr id="4" name="Title 3">
            <a:extLst>
              <a:ext uri="{FF2B5EF4-FFF2-40B4-BE49-F238E27FC236}">
                <a16:creationId xmlns:a16="http://schemas.microsoft.com/office/drawing/2014/main" id="{CC59B32F-4C8F-9AFC-9C1A-CE0CEF0AC7B1}"/>
              </a:ext>
            </a:extLst>
          </p:cNvPr>
          <p:cNvSpPr>
            <a:spLocks noGrp="1"/>
          </p:cNvSpPr>
          <p:nvPr>
            <p:ph type="ctrTitle"/>
          </p:nvPr>
        </p:nvSpPr>
        <p:spPr>
          <a:xfrm>
            <a:off x="1761472" y="2495915"/>
            <a:ext cx="9144000" cy="1413235"/>
          </a:xfrm>
        </p:spPr>
        <p:txBody>
          <a:bodyPr>
            <a:normAutofit fontScale="90000"/>
          </a:bodyPr>
          <a:lstStyle/>
          <a:p>
            <a:r>
              <a:rPr lang="en-IN" sz="11500"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rPr>
              <a:t>THANK YOU </a:t>
            </a:r>
          </a:p>
        </p:txBody>
      </p:sp>
    </p:spTree>
    <p:extLst>
      <p:ext uri="{BB962C8B-B14F-4D97-AF65-F5344CB8AC3E}">
        <p14:creationId xmlns:p14="http://schemas.microsoft.com/office/powerpoint/2010/main" val="1290870512"/>
      </p:ext>
    </p:extLst>
  </p:cSld>
  <p:clrMapOvr>
    <a:masterClrMapping/>
  </p:clrMapOvr>
</p:sld>
</file>

<file path=ppt/theme/theme1.xml><?xml version="1.0" encoding="utf-8"?>
<a:theme xmlns:a="http://schemas.openxmlformats.org/drawingml/2006/main" name="Office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711</TotalTime>
  <Words>919</Words>
  <Application>Microsoft Office PowerPoint</Application>
  <PresentationFormat>Widescreen</PresentationFormat>
  <Paragraphs>84</Paragraphs>
  <Slides>14</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Times New Roman</vt:lpstr>
      <vt:lpstr>Office Theme</vt:lpstr>
      <vt:lpstr>TEEN-AGE  PHONE ADDICTION</vt:lpstr>
      <vt:lpstr>Introduction</vt:lpstr>
      <vt:lpstr>Objective </vt:lpstr>
      <vt:lpstr>Dashboard</vt:lpstr>
      <vt:lpstr>Problem Statement</vt:lpstr>
      <vt:lpstr>Result</vt:lpstr>
      <vt:lpstr>Result</vt:lpstr>
      <vt:lpstr>Result</vt:lpstr>
      <vt:lpstr>Result</vt:lpstr>
      <vt:lpstr>Result</vt:lpstr>
      <vt:lpstr>Result</vt:lpstr>
      <vt:lpstr>Conclusion</vt:lpstr>
      <vt:lpstr>Future Scope</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Tushar Parmar</dc:creator>
  <cp:lastModifiedBy>Tushar Parmar</cp:lastModifiedBy>
  <cp:revision>3</cp:revision>
  <dcterms:created xsi:type="dcterms:W3CDTF">2025-07-26T03:57:46Z</dcterms:created>
  <dcterms:modified xsi:type="dcterms:W3CDTF">2025-07-27T15:45:18Z</dcterms:modified>
</cp:coreProperties>
</file>